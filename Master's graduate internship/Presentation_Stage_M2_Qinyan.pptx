
<file path=[Content_Types].xml><?xml version="1.0" encoding="utf-8"?>
<Types xmlns="http://schemas.openxmlformats.org/package/2006/content-types">
  <Default Extension="jpeg" ContentType="image/jpeg"/>
  <Default Extension="jpg" ContentType="image/png"/>
  <Default Extension="mp4" ContentType="video/mp4"/>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76" r:id="rId2"/>
    <p:sldId id="277" r:id="rId3"/>
    <p:sldId id="279" r:id="rId4"/>
    <p:sldId id="283" r:id="rId5"/>
    <p:sldId id="284" r:id="rId6"/>
    <p:sldId id="300" r:id="rId7"/>
    <p:sldId id="288" r:id="rId8"/>
    <p:sldId id="301" r:id="rId9"/>
    <p:sldId id="278" r:id="rId10"/>
    <p:sldId id="291" r:id="rId11"/>
    <p:sldId id="292" r:id="rId12"/>
    <p:sldId id="293" r:id="rId13"/>
    <p:sldId id="294" r:id="rId14"/>
    <p:sldId id="295" r:id="rId15"/>
    <p:sldId id="297" r:id="rId16"/>
    <p:sldId id="298" r:id="rId17"/>
    <p:sldId id="299" r:id="rId18"/>
    <p:sldId id="289" r:id="rId19"/>
    <p:sldId id="285" r:id="rId20"/>
    <p:sldId id="286" r:id="rId21"/>
    <p:sldId id="290"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68" autoAdjust="0"/>
    <p:restoredTop sz="75020" autoAdjust="0"/>
  </p:normalViewPr>
  <p:slideViewPr>
    <p:cSldViewPr snapToGrid="0">
      <p:cViewPr varScale="1">
        <p:scale>
          <a:sx n="64" d="100"/>
          <a:sy n="64" d="100"/>
        </p:scale>
        <p:origin x="472"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BFD493-3A24-4B04-8180-AEB14CD09184}" type="datetimeFigureOut">
              <a:rPr lang="zh-CN" altLang="en-US" smtClean="0"/>
              <a:t>2025/9/5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F6F3D1-C8FB-431E-947E-2059B758F46A}" type="slidenum">
              <a:rPr lang="zh-CN" altLang="en-US" smtClean="0"/>
              <a:t>‹#›</a:t>
            </a:fld>
            <a:endParaRPr lang="zh-CN" altLang="en-US"/>
          </a:p>
        </p:txBody>
      </p:sp>
    </p:spTree>
    <p:extLst>
      <p:ext uri="{BB962C8B-B14F-4D97-AF65-F5344CB8AC3E}">
        <p14:creationId xmlns:p14="http://schemas.microsoft.com/office/powerpoint/2010/main" val="2386885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t>Bonjour à tous, aujourd’hui je vais vous présenter mon stage de fin d’étude Mater 2</a:t>
            </a:r>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1</a:t>
            </a:fld>
            <a:endParaRPr lang="zh-CN" altLang="en-US"/>
          </a:p>
        </p:txBody>
      </p:sp>
    </p:spTree>
    <p:extLst>
      <p:ext uri="{BB962C8B-B14F-4D97-AF65-F5344CB8AC3E}">
        <p14:creationId xmlns:p14="http://schemas.microsoft.com/office/powerpoint/2010/main" val="3938831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t>Ma présentation va commencer par contexte et motivation, puis objectif de mon stage, présentation des modèles utilisés, test des modèles, validation du modèle, Analyser leurs performances et une conclusion</a:t>
            </a:r>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2</a:t>
            </a:fld>
            <a:endParaRPr lang="zh-CN" altLang="en-US"/>
          </a:p>
        </p:txBody>
      </p:sp>
    </p:spTree>
    <p:extLst>
      <p:ext uri="{BB962C8B-B14F-4D97-AF65-F5344CB8AC3E}">
        <p14:creationId xmlns:p14="http://schemas.microsoft.com/office/powerpoint/2010/main" val="2629509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t>M</a:t>
            </a:r>
            <a:r>
              <a:rPr lang="en-US" altLang="zh-CN" dirty="0"/>
              <a:t>on</a:t>
            </a:r>
            <a:r>
              <a:rPr lang="fr-FR" altLang="zh-CN" dirty="0"/>
              <a:t> stage consiste le développement d’un nouveau modèle pour simuler les écoulements dans la zone saturée consiste de l’aire et de l’eau </a:t>
            </a:r>
            <a:r>
              <a:rPr lang="en-US" altLang="zh-CN" dirty="0" err="1"/>
              <a:t>comme</a:t>
            </a:r>
            <a:r>
              <a:rPr lang="en-US" altLang="zh-CN" dirty="0"/>
              <a:t> sur </a:t>
            </a:r>
            <a:r>
              <a:rPr lang="en-US" altLang="zh-CN" dirty="0" err="1"/>
              <a:t>l’image</a:t>
            </a:r>
            <a:r>
              <a:rPr lang="en-US" altLang="zh-CN" dirty="0"/>
              <a:t> </a:t>
            </a:r>
            <a:r>
              <a:rPr lang="fr-FR" altLang="zh-CN" dirty="0"/>
              <a:t>et la zone non saturée avec que de l’eau. C’est essentiel pour la gestion des nappes phréatiques.</a:t>
            </a:r>
          </a:p>
          <a:p>
            <a:endParaRPr lang="fr-FR" altLang="zh-CN" dirty="0"/>
          </a:p>
          <a:p>
            <a:r>
              <a:rPr lang="fr-FR" altLang="zh-CN" dirty="0"/>
              <a:t>Le problème, c’est que les modèles traditionnels posent des limites.</a:t>
            </a:r>
          </a:p>
          <a:p>
            <a:endParaRPr lang="fr-FR" altLang="zh-CN" dirty="0"/>
          </a:p>
          <a:p>
            <a:r>
              <a:rPr lang="fr-FR" altLang="zh-CN" dirty="0"/>
              <a:t>Par exemple, le modèle de Richards décrit l’écoulement en zone saturée et en zone non saturée. Il est précis, mais difficile à résoudre et coûteux en calcul.</a:t>
            </a:r>
          </a:p>
          <a:p>
            <a:endParaRPr lang="fr-FR" altLang="zh-CN" dirty="0"/>
          </a:p>
          <a:p>
            <a:r>
              <a:rPr lang="fr-FR" altLang="zh-CN" dirty="0"/>
              <a:t>Le modèle de Dupuit est basé sur des hypothèses simples. Il s’applique surtout à la zone saturée, mais sans la zone non saturée. Il est rapide et efficace, mais moins réaliste.</a:t>
            </a:r>
          </a:p>
          <a:p>
            <a:endParaRPr lang="fr-FR" altLang="zh-CN" dirty="0"/>
          </a:p>
          <a:p>
            <a:r>
              <a:rPr lang="fr-FR" altLang="zh-CN" dirty="0"/>
              <a:t>Donc l’idée, c’est d’avoir un modèle qui soit à la fois efficace et qui garde quand même les aspects physiques importants. </a:t>
            </a:r>
          </a:p>
          <a:p>
            <a:r>
              <a:rPr lang="fr-FR" altLang="zh-CN" dirty="0"/>
              <a:t>Donc, le modèle de Boussinesq-Richards.</a:t>
            </a:r>
          </a:p>
        </p:txBody>
      </p:sp>
      <p:sp>
        <p:nvSpPr>
          <p:cNvPr id="4" name="灯片编号占位符 3"/>
          <p:cNvSpPr>
            <a:spLocks noGrp="1"/>
          </p:cNvSpPr>
          <p:nvPr>
            <p:ph type="sldNum" sz="quarter" idx="5"/>
          </p:nvPr>
        </p:nvSpPr>
        <p:spPr/>
        <p:txBody>
          <a:bodyPr/>
          <a:lstStyle/>
          <a:p>
            <a:fld id="{C8F6F3D1-C8FB-431E-947E-2059B758F46A}" type="slidenum">
              <a:rPr lang="zh-CN" altLang="en-US" smtClean="0"/>
              <a:t>3</a:t>
            </a:fld>
            <a:endParaRPr lang="zh-CN" altLang="en-US"/>
          </a:p>
        </p:txBody>
      </p:sp>
    </p:spTree>
    <p:extLst>
      <p:ext uri="{BB962C8B-B14F-4D97-AF65-F5344CB8AC3E}">
        <p14:creationId xmlns:p14="http://schemas.microsoft.com/office/powerpoint/2010/main" val="3136281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Du coup, </a:t>
            </a:r>
            <a:r>
              <a:rPr lang="en-US" altLang="zh-CN" dirty="0" err="1"/>
              <a:t>l’objectif</a:t>
            </a:r>
            <a:r>
              <a:rPr lang="en-US" altLang="zh-CN" dirty="0"/>
              <a:t> de </a:t>
            </a:r>
            <a:r>
              <a:rPr lang="en-US" altLang="zh-CN" dirty="0" err="1"/>
              <a:t>mon</a:t>
            </a:r>
            <a:r>
              <a:rPr lang="en-US" altLang="zh-CN" dirty="0"/>
              <a:t> stage </a:t>
            </a:r>
            <a:r>
              <a:rPr lang="en-US" altLang="zh-CN" dirty="0" err="1"/>
              <a:t>est</a:t>
            </a:r>
            <a:r>
              <a:rPr lang="fr-FR" altLang="zh-CN" dirty="0"/>
              <a:t> de tester les modèles de BR et R, puis valider le modèle de Boussinesq-Richards </a:t>
            </a:r>
            <a:r>
              <a:rPr lang="en-US" altLang="zh-CN" dirty="0"/>
              <a:t>et</a:t>
            </a:r>
            <a:r>
              <a:rPr lang="fr-FR" altLang="zh-CN" dirty="0"/>
              <a:t> évaluer sa performance par rapport à Richards, et rédiger une partie pour un article scientifique.</a:t>
            </a:r>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4</a:t>
            </a:fld>
            <a:endParaRPr lang="zh-CN" altLang="en-US"/>
          </a:p>
        </p:txBody>
      </p:sp>
    </p:spTree>
    <p:extLst>
      <p:ext uri="{BB962C8B-B14F-4D97-AF65-F5344CB8AC3E}">
        <p14:creationId xmlns:p14="http://schemas.microsoft.com/office/powerpoint/2010/main" val="1534527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t>D’abord, je vais vous parler un peu des modèles du point de vue mathématique :</a:t>
            </a:r>
          </a:p>
          <a:p>
            <a:endParaRPr lang="fr-FR" altLang="zh-CN" dirty="0"/>
          </a:p>
          <a:p>
            <a:r>
              <a:rPr lang="fr-FR" altLang="zh-CN" dirty="0"/>
              <a:t>Le modèle de Richards est décrit par l’équation de Richards, et le modèle de Dupuit est décrit par l’équation de Boussinesq</a:t>
            </a:r>
          </a:p>
          <a:p>
            <a:endParaRPr lang="fr-FR" altLang="zh-CN" dirty="0"/>
          </a:p>
          <a:p>
            <a:r>
              <a:rPr lang="fr-FR" altLang="zh-CN" dirty="0"/>
              <a:t>Pour le modèle de Boussinesq-Richards</a:t>
            </a:r>
            <a:r>
              <a:rPr lang="en-US" altLang="zh-CN" dirty="0"/>
              <a:t>,</a:t>
            </a:r>
            <a:r>
              <a:rPr lang="zh-CN" altLang="en-US" dirty="0"/>
              <a:t> </a:t>
            </a:r>
            <a:r>
              <a:rPr lang="en-US" altLang="zh-CN" dirty="0"/>
              <a:t>on</a:t>
            </a:r>
            <a:r>
              <a:rPr lang="zh-CN" altLang="en-US" dirty="0"/>
              <a:t> </a:t>
            </a:r>
            <a:r>
              <a:rPr lang="en-US" altLang="zh-CN" dirty="0"/>
              <a:t>a</a:t>
            </a:r>
            <a:r>
              <a:rPr lang="fr-FR" altLang="zh-CN" dirty="0"/>
              <a:t> couplé l’équation de Richards en 1D avec l’équation de Boussinesq en 2D.</a:t>
            </a:r>
          </a:p>
          <a:p>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5</a:t>
            </a:fld>
            <a:endParaRPr lang="zh-CN" altLang="en-US"/>
          </a:p>
        </p:txBody>
      </p:sp>
    </p:spTree>
    <p:extLst>
      <p:ext uri="{BB962C8B-B14F-4D97-AF65-F5344CB8AC3E}">
        <p14:creationId xmlns:p14="http://schemas.microsoft.com/office/powerpoint/2010/main" val="986070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t>Ce schéma illustre le couplage de l’équation de Richards et l’équation de Boussinesq,</a:t>
            </a:r>
          </a:p>
          <a:p>
            <a:r>
              <a:rPr lang="fr-FR" altLang="zh-CN" dirty="0"/>
              <a:t>l’équation de Richards en 1D s’occupe de l’écoulement vertical, depuis la surface jusqu’au fond, surtout dans la zone non saturée, car l’équation de Boussinesq ne participe pas dans la zone non saturée</a:t>
            </a:r>
          </a:p>
          <a:p>
            <a:endParaRPr lang="fr-FR" altLang="zh-CN" dirty="0"/>
          </a:p>
          <a:p>
            <a:r>
              <a:rPr lang="fr-FR" altLang="zh-CN" dirty="0"/>
              <a:t>C’est contrôlé par la fonction d’indicatrice dans l’équation de flux d’échange, </a:t>
            </a:r>
          </a:p>
          <a:p>
            <a:endParaRPr lang="fr-FR" altLang="zh-CN" dirty="0"/>
          </a:p>
          <a:p>
            <a:r>
              <a:rPr lang="fr-FR" altLang="zh-CN" dirty="0"/>
              <a:t>Donc, l’équation de Boussinesq en 2D se concentre sur l’écoulement horizontal dans la zone saturée.</a:t>
            </a:r>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6</a:t>
            </a:fld>
            <a:endParaRPr lang="zh-CN" altLang="en-US"/>
          </a:p>
        </p:txBody>
      </p:sp>
    </p:spTree>
    <p:extLst>
      <p:ext uri="{BB962C8B-B14F-4D97-AF65-F5344CB8AC3E}">
        <p14:creationId xmlns:p14="http://schemas.microsoft.com/office/powerpoint/2010/main" val="2691773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t>Au début de mon stage, j’ai commencé par tester les modèles de R et BR, y avait deux problèmes principaux</a:t>
            </a:r>
            <a:r>
              <a:rPr lang="en-US" altLang="zh-CN" dirty="0"/>
              <a:t> pendant la simulation.  </a:t>
            </a:r>
          </a:p>
          <a:p>
            <a:endParaRPr lang="en-US" altLang="zh-CN" dirty="0"/>
          </a:p>
          <a:p>
            <a:r>
              <a:rPr lang="fr-FR" altLang="zh-CN" dirty="0"/>
              <a:t>Parfois, le solveur de Newton a du mal à converger</a:t>
            </a:r>
            <a:r>
              <a:rPr lang="en-US" altLang="zh-CN" dirty="0"/>
              <a:t>, </a:t>
            </a:r>
            <a:r>
              <a:rPr lang="en-US" altLang="zh-CN" dirty="0" err="1"/>
              <a:t>en</a:t>
            </a:r>
            <a:r>
              <a:rPr lang="en-US" altLang="zh-CN" dirty="0"/>
              <a:t> particulier </a:t>
            </a:r>
            <a:r>
              <a:rPr lang="en-US" altLang="zh-CN" dirty="0" err="1"/>
              <a:t>en</a:t>
            </a:r>
            <a:r>
              <a:rPr lang="en-US" altLang="zh-CN" dirty="0"/>
              <a:t> </a:t>
            </a:r>
            <a:r>
              <a:rPr lang="en-US" altLang="zh-CN" dirty="0" err="1"/>
              <a:t>appliquant</a:t>
            </a:r>
            <a:r>
              <a:rPr lang="en-US" altLang="zh-CN" dirty="0"/>
              <a:t> </a:t>
            </a:r>
            <a:r>
              <a:rPr lang="en-US" altLang="zh-CN" dirty="0" err="1"/>
              <a:t>une</a:t>
            </a:r>
            <a:r>
              <a:rPr lang="en-US" altLang="zh-CN" dirty="0"/>
              <a:t> recharge de la </a:t>
            </a:r>
            <a:r>
              <a:rPr lang="en-US" altLang="zh-CN" dirty="0" err="1"/>
              <a:t>forme</a:t>
            </a:r>
            <a:r>
              <a:rPr lang="en-US" altLang="zh-CN" dirty="0"/>
              <a:t> </a:t>
            </a:r>
            <a:r>
              <a:rPr lang="en-US" altLang="zh-CN" dirty="0" err="1"/>
              <a:t>en</a:t>
            </a:r>
            <a:r>
              <a:rPr lang="en-US" altLang="zh-CN" dirty="0"/>
              <a:t> escalier; </a:t>
            </a:r>
            <a:r>
              <a:rPr lang="en-US" altLang="zh-CN" dirty="0" err="1"/>
              <a:t>Puis</a:t>
            </a:r>
            <a:endParaRPr lang="en-US" altLang="zh-CN" dirty="0"/>
          </a:p>
          <a:p>
            <a:r>
              <a:rPr lang="en-US" altLang="zh-CN" dirty="0"/>
              <a:t>Un </a:t>
            </a:r>
            <a:r>
              <a:rPr lang="fr-FR" altLang="zh-CN" dirty="0"/>
              <a:t>de décalage temporel entre la recharge et la variation de saturation, </a:t>
            </a:r>
            <a:r>
              <a:rPr lang="en-US" altLang="zh-CN" dirty="0"/>
              <a:t>c</a:t>
            </a:r>
            <a:r>
              <a:rPr lang="fr-FR" altLang="zh-CN" dirty="0"/>
              <a:t>’est-à-dire y avais un retard pour la variation de saturation par rapport à  la recharge</a:t>
            </a:r>
          </a:p>
          <a:p>
            <a:endParaRPr lang="fr-FR" altLang="zh-CN" dirty="0"/>
          </a:p>
          <a:p>
            <a:r>
              <a:rPr lang="fr-FR" altLang="zh-CN" dirty="0"/>
              <a:t>Et un autre décalage temporel entre la recharge et le flux sortant</a:t>
            </a:r>
            <a:endParaRPr lang="en-US" altLang="zh-CN" dirty="0"/>
          </a:p>
          <a:p>
            <a:endParaRPr lang="en-US" altLang="zh-CN" dirty="0"/>
          </a:p>
          <a:p>
            <a:r>
              <a:rPr lang="en-US" altLang="zh-CN" dirty="0"/>
              <a:t>Pour </a:t>
            </a:r>
            <a:r>
              <a:rPr lang="fr-FR" altLang="zh-CN" dirty="0"/>
              <a:t>résoudre </a:t>
            </a:r>
            <a:r>
              <a:rPr lang="en-US" altLang="zh-CN" dirty="0" err="1"/>
              <a:t>d’abord</a:t>
            </a:r>
            <a:r>
              <a:rPr lang="fr-FR" altLang="zh-CN" dirty="0"/>
              <a:t>, le problème de convergence, j’ai fait une boucle quand Newton ne converge pas, le pas temps va se diminuer automatiquement.</a:t>
            </a:r>
          </a:p>
          <a:p>
            <a:endParaRPr lang="fr-FR" altLang="zh-CN" dirty="0"/>
          </a:p>
          <a:p>
            <a:r>
              <a:rPr lang="fr-FR" altLang="zh-CN" dirty="0"/>
              <a:t>Puis, j’ai proposé une approximation lissée de la recharge R</a:t>
            </a:r>
            <a:r>
              <a:rPr lang="en-US" altLang="zh-CN" dirty="0"/>
              <a:t>(t)</a:t>
            </a:r>
            <a:r>
              <a:rPr lang="fr-FR" altLang="zh-CN" dirty="0"/>
              <a:t>, qui est basée sur une fonction sigmoïde. </a:t>
            </a:r>
          </a:p>
          <a:p>
            <a:endParaRPr lang="fr-FR" altLang="zh-CN" dirty="0"/>
          </a:p>
          <a:p>
            <a:r>
              <a:rPr lang="fr-FR" altLang="zh-CN" dirty="0"/>
              <a:t>Sur la figure, on voit que l’approximation de Sigmoïde correspond bien la recharge en escalier.</a:t>
            </a:r>
          </a:p>
          <a:p>
            <a:endParaRPr lang="fr-FR" altLang="zh-CN" dirty="0"/>
          </a:p>
          <a:p>
            <a:r>
              <a:rPr lang="fr-FR" altLang="zh-CN" dirty="0"/>
              <a:t>ça nous permet de baisser la non-linéaire du système, donc la convergence de Newton est plus facile que dans le cas d’une recharge en escalier, et ça </a:t>
            </a:r>
            <a:r>
              <a:rPr lang="fr-FR" altLang="zh-CN" dirty="0" err="1"/>
              <a:t>resoud</a:t>
            </a:r>
            <a:r>
              <a:rPr lang="fr-FR" altLang="zh-CN" dirty="0"/>
              <a:t> aussi le retard de la variation de saturation par rapport à la recharge.</a:t>
            </a:r>
          </a:p>
          <a:p>
            <a:endParaRPr lang="fr-FR" altLang="zh-CN" dirty="0"/>
          </a:p>
          <a:p>
            <a:r>
              <a:rPr lang="fr-FR" altLang="zh-CN" dirty="0"/>
              <a:t>Le décalage temporel entre la recharge et le flux sortant se réglé par une intégration du pas de temps.</a:t>
            </a:r>
          </a:p>
          <a:p>
            <a:endParaRPr lang="fr-FR" altLang="zh-CN" dirty="0"/>
          </a:p>
          <a:p>
            <a:r>
              <a:rPr lang="fr-FR" altLang="zh-CN" dirty="0"/>
              <a:t>Donc, on peut commencer de voir le fonctionnement de BR</a:t>
            </a:r>
          </a:p>
        </p:txBody>
      </p:sp>
      <p:sp>
        <p:nvSpPr>
          <p:cNvPr id="4" name="灯片编号占位符 3"/>
          <p:cNvSpPr>
            <a:spLocks noGrp="1"/>
          </p:cNvSpPr>
          <p:nvPr>
            <p:ph type="sldNum" sz="quarter" idx="5"/>
          </p:nvPr>
        </p:nvSpPr>
        <p:spPr/>
        <p:txBody>
          <a:bodyPr/>
          <a:lstStyle/>
          <a:p>
            <a:fld id="{C8F6F3D1-C8FB-431E-947E-2059B758F46A}" type="slidenum">
              <a:rPr lang="zh-CN" altLang="en-US" smtClean="0"/>
              <a:t>7</a:t>
            </a:fld>
            <a:endParaRPr lang="zh-CN" altLang="en-US"/>
          </a:p>
        </p:txBody>
      </p:sp>
    </p:spTree>
    <p:extLst>
      <p:ext uri="{BB962C8B-B14F-4D97-AF65-F5344CB8AC3E}">
        <p14:creationId xmlns:p14="http://schemas.microsoft.com/office/powerpoint/2010/main" val="107392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t>Pour valider le modèle de Boussinesq-Richards, on commence par le comparer à une solution analytique. </a:t>
            </a:r>
          </a:p>
          <a:p>
            <a:endParaRPr lang="fr-FR" altLang="zh-CN" dirty="0"/>
          </a:p>
          <a:p>
            <a:r>
              <a:rPr lang="fr-FR" altLang="zh-CN" dirty="0"/>
              <a:t>Cette solution existe dans le cas d’un état stationnaire, quand la recharge est constante et que le fond </a:t>
            </a:r>
            <a:r>
              <a:rPr lang="fr-FR" altLang="zh-CN" dirty="0" err="1"/>
              <a:t>zb</a:t>
            </a:r>
            <a:r>
              <a:rPr lang="fr-FR" altLang="zh-CN" dirty="0"/>
              <a:t>​ est horizontal.</a:t>
            </a:r>
          </a:p>
          <a:p>
            <a:endParaRPr lang="fr-FR" altLang="zh-CN" dirty="0"/>
          </a:p>
          <a:p>
            <a:r>
              <a:rPr lang="fr-FR" altLang="zh-CN" dirty="0"/>
              <a:t>On voit sur l’image que la nappe calculée avec BR correspond très bien à la solution analytique, pour le sable ou pour le loam.</a:t>
            </a:r>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8</a:t>
            </a:fld>
            <a:endParaRPr lang="zh-CN" altLang="en-US"/>
          </a:p>
        </p:txBody>
      </p:sp>
    </p:spTree>
    <p:extLst>
      <p:ext uri="{BB962C8B-B14F-4D97-AF65-F5344CB8AC3E}">
        <p14:creationId xmlns:p14="http://schemas.microsoft.com/office/powerpoint/2010/main" val="909445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Puis</a:t>
            </a:r>
            <a:r>
              <a:rPr lang="en-US" altLang="zh-CN" dirty="0"/>
              <a:t>, on compare le </a:t>
            </a:r>
            <a:r>
              <a:rPr lang="en-US" altLang="zh-CN" dirty="0" err="1"/>
              <a:t>modèle</a:t>
            </a:r>
            <a:r>
              <a:rPr lang="en-US" altLang="zh-CN" dirty="0"/>
              <a:t> de BR par rapport a R pour </a:t>
            </a:r>
            <a:r>
              <a:rPr lang="fr-FR" altLang="zh-CN" dirty="0"/>
              <a:t>compléter la comparaison.</a:t>
            </a:r>
            <a:endParaRPr lang="en-US" altLang="zh-CN" dirty="0"/>
          </a:p>
          <a:p>
            <a:endParaRPr lang="en-US" altLang="zh-CN" dirty="0"/>
          </a:p>
          <a:p>
            <a:r>
              <a:rPr lang="fr-FR" altLang="zh-CN" dirty="0"/>
              <a:t>Voici le domaine de simulation : on a deux bords imperméables, en bas et à droite, le bord d’infiltration à gauche; la condition de Dirichlet en rouge pour simuler une rivière latérale, et un flux imposé sur le bord supérieur.</a:t>
            </a:r>
          </a:p>
          <a:p>
            <a:endParaRPr lang="fr-FR" altLang="zh-CN" dirty="0"/>
          </a:p>
          <a:p>
            <a:r>
              <a:rPr lang="fr-FR" altLang="zh-CN" dirty="0"/>
              <a:t>Pour commencer la simulation, on applique d’abord une recharge constante afin d’atteindre un état stationnaire, représenté par cette figure. Ensuite, on applique la recharge variable de la forme en escalier qui est présentée précédemment.</a:t>
            </a:r>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9</a:t>
            </a:fld>
            <a:endParaRPr lang="zh-CN" altLang="en-US"/>
          </a:p>
        </p:txBody>
      </p:sp>
    </p:spTree>
    <p:extLst>
      <p:ext uri="{BB962C8B-B14F-4D97-AF65-F5344CB8AC3E}">
        <p14:creationId xmlns:p14="http://schemas.microsoft.com/office/powerpoint/2010/main" val="2599108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t>Donc, pour la comparaison. On regarde d’abord le profile de saturation avec le pas de temps différent.</a:t>
            </a:r>
          </a:p>
          <a:p>
            <a:endParaRPr lang="fr-FR" altLang="zh-CN" dirty="0"/>
          </a:p>
          <a:p>
            <a:r>
              <a:rPr lang="fr-FR" altLang="zh-CN" dirty="0"/>
              <a:t>On voit sur la figure </a:t>
            </a:r>
            <a:r>
              <a:rPr lang="en-US" altLang="zh-CN" dirty="0"/>
              <a:t>que la</a:t>
            </a:r>
            <a:r>
              <a:rPr lang="fr-FR" altLang="zh-CN" dirty="0"/>
              <a:t> saturation évolue plus vite dans le sable que dans le loam, c’est bien cohérent avec la physique. Car la conductivité de sable est beaucoup plus élevée que celle de loam.</a:t>
            </a:r>
          </a:p>
          <a:p>
            <a:endParaRPr lang="fr-FR" altLang="zh-CN" dirty="0"/>
          </a:p>
          <a:p>
            <a:r>
              <a:rPr lang="fr-FR" altLang="zh-CN" dirty="0"/>
              <a:t>Dans la zone non saturée et la zone saturée, les courbes de saturation se superposent bien. C’est seulement à la limite entre les deux zones qu’on voit un écart , c’est-à-dire que le niveau de la nappe donné par BR et R se superpose moins bien.</a:t>
            </a:r>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10</a:t>
            </a:fld>
            <a:endParaRPr lang="zh-CN" altLang="en-US"/>
          </a:p>
        </p:txBody>
      </p:sp>
    </p:spTree>
    <p:extLst>
      <p:ext uri="{BB962C8B-B14F-4D97-AF65-F5344CB8AC3E}">
        <p14:creationId xmlns:p14="http://schemas.microsoft.com/office/powerpoint/2010/main" val="3431765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Et on </a:t>
            </a:r>
            <a:r>
              <a:rPr lang="en-US" altLang="zh-CN" dirty="0" err="1"/>
              <a:t>voit</a:t>
            </a:r>
            <a:r>
              <a:rPr lang="en-US" altLang="zh-CN" dirty="0"/>
              <a:t> sur les figures, </a:t>
            </a:r>
            <a:r>
              <a:rPr lang="fr-FR" altLang="zh-CN" dirty="0"/>
              <a:t>les courbes de niveau de la nappe se superposent, mais avec un écart observable. </a:t>
            </a:r>
          </a:p>
          <a:p>
            <a:endParaRPr lang="fr-FR" altLang="zh-CN" dirty="0"/>
          </a:p>
          <a:p>
            <a:r>
              <a:rPr lang="fr-FR" altLang="zh-CN" dirty="0"/>
              <a:t>Et on voit dans le loam, les courbes se superpose moins bien que dans le sable.</a:t>
            </a:r>
          </a:p>
          <a:p>
            <a:endParaRPr lang="fr-FR" altLang="zh-CN"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11</a:t>
            </a:fld>
            <a:endParaRPr lang="zh-CN" altLang="en-US"/>
          </a:p>
        </p:txBody>
      </p:sp>
    </p:spTree>
    <p:extLst>
      <p:ext uri="{BB962C8B-B14F-4D97-AF65-F5344CB8AC3E}">
        <p14:creationId xmlns:p14="http://schemas.microsoft.com/office/powerpoint/2010/main" val="24392741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effectLst/>
              </a:rPr>
              <a:t>P</a:t>
            </a:r>
            <a:r>
              <a:rPr lang="en-US" altLang="zh-CN" dirty="0">
                <a:effectLst/>
              </a:rPr>
              <a:t>our quantifier </a:t>
            </a:r>
            <a:r>
              <a:rPr lang="en-US" altLang="zh-CN" dirty="0" err="1">
                <a:effectLst/>
              </a:rPr>
              <a:t>ces</a:t>
            </a:r>
            <a:r>
              <a:rPr lang="en-US" altLang="zh-CN" dirty="0">
                <a:effectLst/>
              </a:rPr>
              <a:t> </a:t>
            </a:r>
            <a:r>
              <a:rPr lang="en-US" altLang="zh-CN" dirty="0" err="1">
                <a:effectLst/>
              </a:rPr>
              <a:t>différences</a:t>
            </a:r>
            <a:r>
              <a:rPr lang="en-US" altLang="zh-CN" dirty="0">
                <a:effectLst/>
              </a:rPr>
              <a:t>. </a:t>
            </a:r>
            <a:r>
              <a:rPr lang="fr-FR" altLang="zh-CN" dirty="0">
                <a:effectLst/>
              </a:rPr>
              <a:t>Ici, on voit les </a:t>
            </a:r>
            <a:r>
              <a:rPr lang="en-US" altLang="zh-CN" dirty="0" err="1">
                <a:effectLst/>
              </a:rPr>
              <a:t>erreur</a:t>
            </a:r>
            <a:r>
              <a:rPr lang="fr-FR" altLang="zh-CN" dirty="0">
                <a:effectLst/>
              </a:rPr>
              <a:t>s moyennes de saturation et de niveau de la nappe sur ces graphiques.</a:t>
            </a:r>
          </a:p>
          <a:p>
            <a:endParaRPr lang="en-US" altLang="zh-CN" dirty="0"/>
          </a:p>
          <a:p>
            <a:r>
              <a:rPr lang="fr-FR" altLang="zh-CN" dirty="0"/>
              <a:t>L’erreur moyenne de saturation est moins de 5 % dans le sable et moins de 3 % dans le loam.</a:t>
            </a:r>
          </a:p>
          <a:p>
            <a:r>
              <a:rPr lang="en-US" altLang="zh-CN" dirty="0"/>
              <a:t>Car </a:t>
            </a:r>
            <a:r>
              <a:rPr lang="fr-FR" altLang="zh-CN" dirty="0"/>
              <a:t>la variation de saturation dans le sable est plus forte que dans le loam, comme </a:t>
            </a:r>
            <a:r>
              <a:rPr lang="en-US" altLang="zh-CN" dirty="0"/>
              <a:t>la </a:t>
            </a:r>
            <a:r>
              <a:rPr lang="en-US" altLang="zh-CN" dirty="0" err="1"/>
              <a:t>conductivi</a:t>
            </a:r>
            <a:r>
              <a:rPr lang="fr-FR" altLang="zh-CN" dirty="0"/>
              <a:t>té de sable est plus élevée que loam.</a:t>
            </a:r>
            <a:endParaRPr lang="en-US" altLang="zh-CN" dirty="0"/>
          </a:p>
          <a:p>
            <a:endParaRPr lang="en-US" altLang="zh-CN" dirty="0"/>
          </a:p>
          <a:p>
            <a:r>
              <a:rPr lang="en-US" altLang="zh-CN" dirty="0" err="1"/>
              <a:t>L’erreur</a:t>
            </a:r>
            <a:r>
              <a:rPr lang="en-US" altLang="zh-CN" dirty="0"/>
              <a:t> de </a:t>
            </a:r>
            <a:r>
              <a:rPr lang="en-US" altLang="zh-CN" dirty="0" err="1"/>
              <a:t>niveau</a:t>
            </a:r>
            <a:r>
              <a:rPr lang="en-US" altLang="zh-CN" dirty="0"/>
              <a:t> de la nappe </a:t>
            </a:r>
            <a:r>
              <a:rPr lang="en-US" altLang="zh-CN" dirty="0" err="1"/>
              <a:t>est</a:t>
            </a:r>
            <a:r>
              <a:rPr lang="en-US" altLang="zh-CN" dirty="0"/>
              <a:t> </a:t>
            </a:r>
            <a:r>
              <a:rPr lang="en-US" altLang="zh-CN" dirty="0" err="1"/>
              <a:t>moins</a:t>
            </a:r>
            <a:r>
              <a:rPr lang="en-US" altLang="zh-CN" dirty="0"/>
              <a:t> de 6.5% dans le sable et </a:t>
            </a:r>
            <a:r>
              <a:rPr lang="en-US" altLang="zh-CN" dirty="0" err="1"/>
              <a:t>moins</a:t>
            </a:r>
            <a:r>
              <a:rPr lang="en-US" altLang="zh-CN" dirty="0"/>
              <a:t> de 8% dans le loam.</a:t>
            </a:r>
          </a:p>
          <a:p>
            <a:r>
              <a:rPr lang="fr-FR" altLang="zh-CN" dirty="0"/>
              <a:t>Car, </a:t>
            </a:r>
            <a:r>
              <a:rPr lang="en-US" altLang="zh-CN" dirty="0"/>
              <a:t>d</a:t>
            </a:r>
            <a:r>
              <a:rPr lang="fr-FR" altLang="zh-CN" dirty="0"/>
              <a:t>ans le loam, la capillarité est relativement importante.</a:t>
            </a:r>
          </a:p>
          <a:p>
            <a:r>
              <a:rPr lang="fr-FR" altLang="zh-CN" dirty="0"/>
              <a:t>Et le modèle de Richards décrit la capillarité de manière plus complète que le BR.</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Comme les </a:t>
            </a:r>
            <a:r>
              <a:rPr lang="en-US" altLang="zh-CN" dirty="0" err="1"/>
              <a:t>errurs</a:t>
            </a:r>
            <a:r>
              <a:rPr lang="en-US" altLang="zh-CN" dirty="0"/>
              <a:t> </a:t>
            </a:r>
            <a:r>
              <a:rPr lang="en-US" altLang="zh-CN" dirty="0" err="1"/>
              <a:t>sont</a:t>
            </a:r>
            <a:r>
              <a:rPr lang="en-US" altLang="zh-CN" dirty="0"/>
              <a:t> bien </a:t>
            </a:r>
            <a:r>
              <a:rPr lang="en-US" altLang="zh-CN" dirty="0" err="1"/>
              <a:t>faibles</a:t>
            </a:r>
            <a:r>
              <a:rPr lang="en-US" altLang="zh-CN" dirty="0"/>
              <a:t>, on </a:t>
            </a:r>
            <a:r>
              <a:rPr lang="en-US" altLang="zh-CN" dirty="0" err="1"/>
              <a:t>peut</a:t>
            </a:r>
            <a:r>
              <a:rPr lang="en-US" altLang="zh-CN" dirty="0"/>
              <a:t> dire </a:t>
            </a:r>
            <a:r>
              <a:rPr lang="en-US" altLang="zh-CN" dirty="0" err="1"/>
              <a:t>qu’on</a:t>
            </a:r>
            <a:r>
              <a:rPr lang="en-US" altLang="zh-CN" dirty="0"/>
              <a:t> a </a:t>
            </a:r>
            <a:r>
              <a:rPr lang="en-US" altLang="zh-CN" dirty="0" err="1"/>
              <a:t>une</a:t>
            </a:r>
            <a:r>
              <a:rPr lang="en-US" altLang="zh-CN" dirty="0"/>
              <a:t> bonne</a:t>
            </a:r>
            <a:r>
              <a:rPr lang="fr-FR" altLang="zh-CN" dirty="0">
                <a:effectLst/>
              </a:rPr>
              <a:t> cohérence physique.</a:t>
            </a:r>
          </a:p>
          <a:p>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12</a:t>
            </a:fld>
            <a:endParaRPr lang="zh-CN" altLang="en-US"/>
          </a:p>
        </p:txBody>
      </p:sp>
    </p:spTree>
    <p:extLst>
      <p:ext uri="{BB962C8B-B14F-4D97-AF65-F5344CB8AC3E}">
        <p14:creationId xmlns:p14="http://schemas.microsoft.com/office/powerpoint/2010/main" val="3767170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Pour </a:t>
            </a:r>
            <a:r>
              <a:rPr lang="en-US" altLang="zh-CN" dirty="0" err="1"/>
              <a:t>voir</a:t>
            </a:r>
            <a:r>
              <a:rPr lang="en-US" altLang="zh-CN" dirty="0"/>
              <a:t> la </a:t>
            </a:r>
            <a:r>
              <a:rPr lang="en-US" altLang="zh-CN" dirty="0" err="1"/>
              <a:t>dynamique</a:t>
            </a:r>
            <a:r>
              <a:rPr lang="en-US" altLang="zh-CN" dirty="0"/>
              <a:t> du </a:t>
            </a:r>
            <a:r>
              <a:rPr lang="fr-FR" altLang="zh-CN" dirty="0"/>
              <a:t>système, on voit </a:t>
            </a:r>
            <a:r>
              <a:rPr lang="en-US" altLang="zh-CN" dirty="0"/>
              <a:t>sur </a:t>
            </a:r>
            <a:r>
              <a:rPr lang="en-US" altLang="zh-CN" dirty="0" err="1"/>
              <a:t>ces</a:t>
            </a:r>
            <a:r>
              <a:rPr lang="fr-FR" altLang="zh-CN" dirty="0"/>
              <a:t> figures.</a:t>
            </a:r>
          </a:p>
          <a:p>
            <a:endParaRPr lang="fr-FR"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zh-CN" dirty="0"/>
              <a:t>Les courbes de fluxe sortant instantané sont bien superposées et avec un </a:t>
            </a:r>
            <a:r>
              <a:rPr lang="en-US" altLang="zh-CN" dirty="0">
                <a:effectLst/>
              </a:rPr>
              <a:t>retard par rapport à </a:t>
            </a:r>
            <a:r>
              <a:rPr lang="fr-FR" altLang="zh-CN" dirty="0"/>
              <a:t>la courbe de recharge </a:t>
            </a:r>
            <a:r>
              <a:rPr lang="en-US" altLang="zh-CN" dirty="0" err="1"/>
              <a:t>dont</a:t>
            </a:r>
            <a:r>
              <a:rPr lang="en-US" altLang="zh-CN" dirty="0"/>
              <a:t> le temps de transition.</a:t>
            </a:r>
            <a:endParaRPr lang="fr-FR"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zh-CN" dirty="0"/>
          </a:p>
          <a:p>
            <a:r>
              <a:rPr lang="fr-FR" altLang="zh-CN" dirty="0">
                <a:effectLst/>
              </a:rPr>
              <a:t>Ce qui montre que le modèle BR reproduit bien le modèle R, avec une bonne cohérence dynamique.</a:t>
            </a:r>
          </a:p>
          <a:p>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13</a:t>
            </a:fld>
            <a:endParaRPr lang="zh-CN" altLang="en-US"/>
          </a:p>
        </p:txBody>
      </p:sp>
    </p:spTree>
    <p:extLst>
      <p:ext uri="{BB962C8B-B14F-4D97-AF65-F5344CB8AC3E}">
        <p14:creationId xmlns:p14="http://schemas.microsoft.com/office/powerpoint/2010/main" val="451310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zh-CN" dirty="0"/>
              <a:t>Maintenant, on va voir le 2</a:t>
            </a:r>
            <a:r>
              <a:rPr lang="fr-FR" altLang="zh-CN" baseline="30000" dirty="0"/>
              <a:t>ème</a:t>
            </a:r>
            <a:r>
              <a:rPr lang="fr-FR" altLang="zh-CN" dirty="0"/>
              <a:t> cas test en appliquant une chronique de recharge réaliste </a:t>
            </a:r>
            <a:r>
              <a:rPr lang="fr-FR" altLang="zh-CN" dirty="0">
                <a:effectLst/>
              </a:rPr>
              <a:t>issue des données de Météo France.</a:t>
            </a:r>
          </a:p>
          <a:p>
            <a:endParaRPr lang="fr-FR"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zh-CN" dirty="0"/>
              <a:t>Le jeu de données </a:t>
            </a:r>
            <a:r>
              <a:rPr lang="fr-FR" altLang="zh-CN" dirty="0">
                <a:effectLst/>
              </a:rPr>
              <a:t>de Météo France est de 1957 à 2018 étant trop volumineuses pour une simulation.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zh-CN" dirty="0">
                <a:effectLst/>
              </a:rPr>
              <a:t>Donc</a:t>
            </a:r>
            <a:r>
              <a:rPr lang="en-US" altLang="zh-CN" dirty="0">
                <a:effectLst/>
              </a:rPr>
              <a:t>,</a:t>
            </a:r>
            <a:r>
              <a:rPr lang="fr-FR" altLang="zh-CN" dirty="0">
                <a:effectLst/>
              </a:rPr>
              <a:t> j’ai utilisé celle de 1957 à 1960 afin de simplifier le calcul.</a:t>
            </a: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rPr>
              <a:t>Comme dans le </a:t>
            </a:r>
            <a:r>
              <a:rPr lang="fr-FR" altLang="zh-CN" dirty="0">
                <a:effectLst/>
              </a:rPr>
              <a:t>1</a:t>
            </a:r>
            <a:r>
              <a:rPr lang="fr-FR" altLang="zh-CN" baseline="30000" dirty="0">
                <a:effectLst/>
              </a:rPr>
              <a:t>er</a:t>
            </a:r>
            <a:r>
              <a:rPr lang="fr-FR" altLang="zh-CN" dirty="0">
                <a:effectLst/>
              </a:rPr>
              <a:t> cas test, j’ai d’abord utilisé la moyenne de la recharge, dont la ligne en orange dans la figure, c’est pour obtenir un état stationnaire.</a:t>
            </a:r>
            <a:endParaRPr lang="fr-FR" altLang="zh-CN" dirty="0"/>
          </a:p>
          <a:p>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14</a:t>
            </a:fld>
            <a:endParaRPr lang="zh-CN" altLang="en-US"/>
          </a:p>
        </p:txBody>
      </p:sp>
    </p:spTree>
    <p:extLst>
      <p:ext uri="{BB962C8B-B14F-4D97-AF65-F5344CB8AC3E}">
        <p14:creationId xmlns:p14="http://schemas.microsoft.com/office/powerpoint/2010/main" val="7209544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t>A partir de cet état stationnaire, on applique les données de Météo France </a:t>
            </a:r>
          </a:p>
          <a:p>
            <a:endParaRPr lang="fr-FR" altLang="zh-CN" dirty="0"/>
          </a:p>
          <a:p>
            <a:r>
              <a:rPr lang="fr-FR" altLang="zh-CN" dirty="0"/>
              <a:t>Dans la simulation, on voit trois périodes de forte recharge qui tombe en hiver, et on voit que le comportement de BR et de R sont bien cohérents pendant la simulation.</a:t>
            </a:r>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15</a:t>
            </a:fld>
            <a:endParaRPr lang="zh-CN" altLang="en-US"/>
          </a:p>
        </p:txBody>
      </p:sp>
    </p:spTree>
    <p:extLst>
      <p:ext uri="{BB962C8B-B14F-4D97-AF65-F5344CB8AC3E}">
        <p14:creationId xmlns:p14="http://schemas.microsoft.com/office/powerpoint/2010/main" val="1723544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Sur </a:t>
            </a:r>
            <a:r>
              <a:rPr lang="en-US" altLang="zh-CN" dirty="0" err="1"/>
              <a:t>cette</a:t>
            </a:r>
            <a:r>
              <a:rPr lang="en-US" altLang="zh-CN" dirty="0"/>
              <a:t> figure, on </a:t>
            </a:r>
            <a:r>
              <a:rPr lang="en-US" altLang="zh-CN" dirty="0" err="1"/>
              <a:t>voit</a:t>
            </a:r>
            <a:r>
              <a:rPr lang="en-US" altLang="zh-CN" dirty="0"/>
              <a:t> les </a:t>
            </a:r>
            <a:r>
              <a:rPr lang="en-US" altLang="zh-CN" dirty="0" err="1"/>
              <a:t>courbes</a:t>
            </a:r>
            <a:r>
              <a:rPr lang="en-US" altLang="zh-CN" dirty="0"/>
              <a:t> de flux </a:t>
            </a:r>
            <a:r>
              <a:rPr lang="en-US" altLang="zh-CN" dirty="0" err="1"/>
              <a:t>sortant</a:t>
            </a:r>
            <a:r>
              <a:rPr lang="en-US" altLang="zh-CN" dirty="0"/>
              <a:t> </a:t>
            </a:r>
            <a:r>
              <a:rPr lang="en-US" altLang="zh-CN" dirty="0" err="1"/>
              <a:t>instantan</a:t>
            </a:r>
            <a:r>
              <a:rPr lang="fr-FR" altLang="zh-CN" dirty="0"/>
              <a:t>é</a:t>
            </a:r>
            <a:r>
              <a:rPr lang="en-US" altLang="zh-CN" dirty="0"/>
              <a:t> se superpose, la </a:t>
            </a:r>
            <a:r>
              <a:rPr lang="en-US" altLang="zh-CN" dirty="0" err="1">
                <a:effectLst/>
              </a:rPr>
              <a:t>moyenne</a:t>
            </a:r>
            <a:r>
              <a:rPr lang="en-US" altLang="zh-CN" dirty="0">
                <a:effectLst/>
              </a:rPr>
              <a:t> des </a:t>
            </a:r>
            <a:r>
              <a:rPr lang="en-US" altLang="zh-CN" dirty="0" err="1">
                <a:effectLst/>
              </a:rPr>
              <a:t>courbes</a:t>
            </a:r>
            <a:r>
              <a:rPr lang="en-US" altLang="zh-CN" dirty="0">
                <a:effectLst/>
              </a:rPr>
              <a:t> de flux </a:t>
            </a:r>
            <a:r>
              <a:rPr lang="en-US" altLang="zh-CN" dirty="0" err="1">
                <a:effectLst/>
              </a:rPr>
              <a:t>sortants</a:t>
            </a:r>
            <a:r>
              <a:rPr lang="en-US" altLang="zh-CN" dirty="0">
                <a:effectLst/>
              </a:rPr>
              <a:t> </a:t>
            </a:r>
            <a:r>
              <a:rPr lang="en-US" altLang="zh-CN" dirty="0"/>
              <a:t>a </a:t>
            </a:r>
            <a:r>
              <a:rPr lang="en-US" altLang="zh-CN" dirty="0" err="1"/>
              <a:t>une</a:t>
            </a:r>
            <a:r>
              <a:rPr lang="en-US" altLang="zh-CN" dirty="0"/>
              <a:t> diff</a:t>
            </a:r>
            <a:r>
              <a:rPr lang="fr-FR" altLang="zh-CN" dirty="0" err="1"/>
              <a:t>érence</a:t>
            </a:r>
            <a:r>
              <a:rPr lang="fr-FR" altLang="zh-CN" dirty="0"/>
              <a:t> moins de 3%</a:t>
            </a:r>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16</a:t>
            </a:fld>
            <a:endParaRPr lang="zh-CN" altLang="en-US"/>
          </a:p>
        </p:txBody>
      </p:sp>
    </p:spTree>
    <p:extLst>
      <p:ext uri="{BB962C8B-B14F-4D97-AF65-F5344CB8AC3E}">
        <p14:creationId xmlns:p14="http://schemas.microsoft.com/office/powerpoint/2010/main" val="15240639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Et </a:t>
            </a:r>
            <a:r>
              <a:rPr lang="en-US" altLang="zh-CN" dirty="0" err="1"/>
              <a:t>l’erreur</a:t>
            </a:r>
            <a:r>
              <a:rPr lang="en-US" altLang="zh-CN" dirty="0"/>
              <a:t> </a:t>
            </a:r>
            <a:r>
              <a:rPr lang="en-US" altLang="zh-CN" dirty="0" err="1"/>
              <a:t>moyenne</a:t>
            </a:r>
            <a:r>
              <a:rPr lang="en-US" altLang="zh-CN" dirty="0"/>
              <a:t> de saturation </a:t>
            </a:r>
            <a:r>
              <a:rPr lang="fr-FR" altLang="zh-CN" dirty="0">
                <a:effectLst/>
              </a:rPr>
              <a:t>atteint un maximum d’environ 3,5 %.</a:t>
            </a:r>
          </a:p>
          <a:p>
            <a:endParaRPr lang="en-US" altLang="zh-CN" dirty="0"/>
          </a:p>
          <a:p>
            <a:r>
              <a:rPr lang="en-US" altLang="zh-CN" dirty="0"/>
              <a:t>Du coup, le mod</a:t>
            </a:r>
            <a:r>
              <a:rPr lang="fr-FR" altLang="zh-CN" dirty="0" err="1"/>
              <a:t>èle</a:t>
            </a:r>
            <a:r>
              <a:rPr lang="fr-FR" altLang="zh-CN" dirty="0"/>
              <a:t> de BR reproduit aussi bien le modèle de R </a:t>
            </a:r>
            <a:r>
              <a:rPr lang="fr-FR" altLang="zh-CN" dirty="0">
                <a:effectLst/>
              </a:rPr>
              <a:t>sous une chronique de recharge réaliste. </a:t>
            </a:r>
          </a:p>
          <a:p>
            <a:endParaRPr lang="fr-FR" altLang="zh-CN" dirty="0">
              <a:effectLst/>
            </a:endParaRPr>
          </a:p>
          <a:p>
            <a:r>
              <a:rPr lang="fr-FR" altLang="zh-CN" dirty="0">
                <a:effectLst/>
              </a:rPr>
              <a:t>Donc, le BR préserve bien les aspects physiques importants.</a:t>
            </a:r>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17</a:t>
            </a:fld>
            <a:endParaRPr lang="zh-CN" altLang="en-US"/>
          </a:p>
        </p:txBody>
      </p:sp>
    </p:spTree>
    <p:extLst>
      <p:ext uri="{BB962C8B-B14F-4D97-AF65-F5344CB8AC3E}">
        <p14:creationId xmlns:p14="http://schemas.microsoft.com/office/powerpoint/2010/main" val="38640210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t>Et, on s’intéresse maintenant la performance du modèle.</a:t>
            </a:r>
          </a:p>
          <a:p>
            <a:endParaRPr lang="fr-FR" altLang="zh-CN" dirty="0"/>
          </a:p>
          <a:p>
            <a:r>
              <a:rPr lang="fr-FR" altLang="zh-CN" dirty="0"/>
              <a:t>Comme le modèle de Boussinesq-Richards est d’une version parallélisée.</a:t>
            </a:r>
          </a:p>
          <a:p>
            <a:r>
              <a:rPr lang="fr-FR" altLang="zh-CN" dirty="0"/>
              <a:t>D’abord, en utilisant un seul proc, on compare le temps de calcul  avec des maillages de taille différentes, le modèle de BR est environ de 4 à 11 fois plus vite que le modèle de R en raffinant le maillage.</a:t>
            </a:r>
          </a:p>
          <a:p>
            <a:endParaRPr lang="fr-FR"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zh-CN" dirty="0">
                <a:effectLst/>
              </a:rPr>
              <a:t>En augmentant le nombre de proc, avec 4 procs notre cas il atteint environ 25 fois plus rapide.</a:t>
            </a:r>
          </a:p>
          <a:p>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18</a:t>
            </a:fld>
            <a:endParaRPr lang="zh-CN" altLang="en-US"/>
          </a:p>
        </p:txBody>
      </p:sp>
    </p:spTree>
    <p:extLst>
      <p:ext uri="{BB962C8B-B14F-4D97-AF65-F5344CB8AC3E}">
        <p14:creationId xmlns:p14="http://schemas.microsoft.com/office/powerpoint/2010/main" val="22042379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t>Du coup pour le 2</a:t>
            </a:r>
            <a:r>
              <a:rPr lang="fr-FR" altLang="zh-CN" baseline="30000" dirty="0"/>
              <a:t>ème</a:t>
            </a:r>
            <a:r>
              <a:rPr lang="fr-FR" altLang="zh-CN" dirty="0"/>
              <a:t> cas test, j’ai utilisé 4 procs pour la comparaison.</a:t>
            </a:r>
          </a:p>
          <a:p>
            <a:endParaRPr lang="fr-FR" altLang="zh-CN" dirty="0"/>
          </a:p>
          <a:p>
            <a:r>
              <a:rPr lang="fr-FR" altLang="zh-CN" dirty="0"/>
              <a:t>Avec les données de 1957 à 1960, BR est environ 19 fois plus rapide.</a:t>
            </a:r>
          </a:p>
          <a:p>
            <a:endParaRPr lang="fr-FR" altLang="zh-CN" dirty="0"/>
          </a:p>
          <a:p>
            <a:r>
              <a:rPr lang="fr-FR" altLang="zh-CN" dirty="0"/>
              <a:t>Avec l’ensemble du jeu de données, il atteint presque 21 fois plus rapide, soit un gain de 46 minutes.</a:t>
            </a:r>
          </a:p>
          <a:p>
            <a:endParaRPr lang="fr-FR" altLang="zh-CN" dirty="0"/>
          </a:p>
          <a:p>
            <a:r>
              <a:rPr lang="fr-FR" altLang="zh-CN" dirty="0"/>
              <a:t>Donc, pour les simulations de longue durée, on peut économiser beaucoup de temps avec BR, ce qui est particulièrement significatif. </a:t>
            </a:r>
            <a:endParaRPr lang="zh-CN" altLang="en-US" b="1"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19</a:t>
            </a:fld>
            <a:endParaRPr lang="zh-CN" altLang="en-US"/>
          </a:p>
        </p:txBody>
      </p:sp>
    </p:spTree>
    <p:extLst>
      <p:ext uri="{BB962C8B-B14F-4D97-AF65-F5344CB8AC3E}">
        <p14:creationId xmlns:p14="http://schemas.microsoft.com/office/powerpoint/2010/main" val="28143220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t>Pour conclure, le modèle de Boussinesq-Richards est un modèle plus efficace et il préserve Bien les aspects physiques importants par rapport à Richards.</a:t>
            </a:r>
          </a:p>
          <a:p>
            <a:endParaRPr lang="fr-FR" altLang="zh-CN" dirty="0"/>
          </a:p>
          <a:p>
            <a:r>
              <a:rPr lang="fr-FR" altLang="zh-CN" dirty="0"/>
              <a:t>Ce qui le rend particulièrement adapté aux applications hydrogéologiques à grande échelle.</a:t>
            </a:r>
          </a:p>
          <a:p>
            <a:endParaRPr lang="fr-FR" altLang="zh-CN" dirty="0"/>
          </a:p>
          <a:p>
            <a:r>
              <a:rPr lang="fr-FR" altLang="zh-CN" dirty="0"/>
              <a:t>Comme mon stage finira le fin septembre, je vais continuer sur un autre cas test de type différent.</a:t>
            </a:r>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20</a:t>
            </a:fld>
            <a:endParaRPr lang="zh-CN" altLang="en-US"/>
          </a:p>
        </p:txBody>
      </p:sp>
    </p:spTree>
    <p:extLst>
      <p:ext uri="{BB962C8B-B14F-4D97-AF65-F5344CB8AC3E}">
        <p14:creationId xmlns:p14="http://schemas.microsoft.com/office/powerpoint/2010/main" val="677564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t>Merci pour votre patience et votre écoute</a:t>
            </a:r>
          </a:p>
          <a:p>
            <a:endParaRPr lang="zh-CN" altLang="en-US" dirty="0"/>
          </a:p>
        </p:txBody>
      </p:sp>
      <p:sp>
        <p:nvSpPr>
          <p:cNvPr id="4" name="灯片编号占位符 3"/>
          <p:cNvSpPr>
            <a:spLocks noGrp="1"/>
          </p:cNvSpPr>
          <p:nvPr>
            <p:ph type="sldNum" sz="quarter" idx="5"/>
          </p:nvPr>
        </p:nvSpPr>
        <p:spPr/>
        <p:txBody>
          <a:bodyPr/>
          <a:lstStyle/>
          <a:p>
            <a:fld id="{C8F6F3D1-C8FB-431E-947E-2059B758F46A}" type="slidenum">
              <a:rPr lang="zh-CN" altLang="en-US" smtClean="0"/>
              <a:t>21</a:t>
            </a:fld>
            <a:endParaRPr lang="zh-CN" altLang="en-US"/>
          </a:p>
        </p:txBody>
      </p:sp>
    </p:spTree>
    <p:extLst>
      <p:ext uri="{BB962C8B-B14F-4D97-AF65-F5344CB8AC3E}">
        <p14:creationId xmlns:p14="http://schemas.microsoft.com/office/powerpoint/2010/main" val="3685082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6A39C8-E5BB-9A61-72F1-1BC7163F6FC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0A12BC4-3DB3-96DF-CD97-3F6B632B0C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B2BC2B5-FAC4-6D52-D896-34C06F80C59A}"/>
              </a:ext>
            </a:extLst>
          </p:cNvPr>
          <p:cNvSpPr>
            <a:spLocks noGrp="1"/>
          </p:cNvSpPr>
          <p:nvPr>
            <p:ph type="dt" sz="half" idx="10"/>
          </p:nvPr>
        </p:nvSpPr>
        <p:spPr/>
        <p:txBody>
          <a:bodyPr/>
          <a:lstStyle/>
          <a:p>
            <a:fld id="{5BD9ECD2-C2C3-4C28-97CE-16B62C311816}" type="datetime1">
              <a:rPr lang="zh-CN" altLang="en-US" smtClean="0"/>
              <a:t>2025/9/5</a:t>
            </a:fld>
            <a:endParaRPr lang="zh-CN" altLang="en-US"/>
          </a:p>
        </p:txBody>
      </p:sp>
      <p:sp>
        <p:nvSpPr>
          <p:cNvPr id="5" name="页脚占位符 4">
            <a:extLst>
              <a:ext uri="{FF2B5EF4-FFF2-40B4-BE49-F238E27FC236}">
                <a16:creationId xmlns:a16="http://schemas.microsoft.com/office/drawing/2014/main" id="{791E0F6F-F0A1-F508-E727-94AC05B080CC}"/>
              </a:ext>
            </a:extLst>
          </p:cNvPr>
          <p:cNvSpPr>
            <a:spLocks noGrp="1"/>
          </p:cNvSpPr>
          <p:nvPr>
            <p:ph type="ftr" sz="quarter" idx="11"/>
          </p:nvPr>
        </p:nvSpPr>
        <p:spPr/>
        <p:txBody>
          <a:bodyPr/>
          <a:lstStyle/>
          <a:p>
            <a:r>
              <a:rPr lang="en-US" altLang="zh-CN" dirty="0"/>
              <a:t>Qinyan YANG      Stage M2     Soutenance de stage — 2025</a:t>
            </a:r>
            <a:endParaRPr lang="zh-CN" altLang="en-US" dirty="0"/>
          </a:p>
        </p:txBody>
      </p:sp>
      <p:sp>
        <p:nvSpPr>
          <p:cNvPr id="6" name="灯片编号占位符 5">
            <a:extLst>
              <a:ext uri="{FF2B5EF4-FFF2-40B4-BE49-F238E27FC236}">
                <a16:creationId xmlns:a16="http://schemas.microsoft.com/office/drawing/2014/main" id="{C71A4FB9-3EDD-2E53-7FAF-6975BDEC3972}"/>
              </a:ext>
            </a:extLst>
          </p:cNvPr>
          <p:cNvSpPr>
            <a:spLocks noGrp="1"/>
          </p:cNvSpPr>
          <p:nvPr>
            <p:ph type="sldNum" sz="quarter" idx="12"/>
          </p:nvPr>
        </p:nvSpPr>
        <p:spPr/>
        <p:txBody>
          <a:bodyPr/>
          <a:lstStyle/>
          <a:p>
            <a:fld id="{02625CE3-65DB-4542-8AE7-F35D1171AFB5}" type="slidenum">
              <a:rPr lang="zh-CN" altLang="en-US" smtClean="0"/>
              <a:t>‹#›</a:t>
            </a:fld>
            <a:endParaRPr lang="zh-CN" altLang="en-US"/>
          </a:p>
        </p:txBody>
      </p:sp>
    </p:spTree>
    <p:extLst>
      <p:ext uri="{BB962C8B-B14F-4D97-AF65-F5344CB8AC3E}">
        <p14:creationId xmlns:p14="http://schemas.microsoft.com/office/powerpoint/2010/main" val="2118721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100A0F-E6B0-7A32-8F61-C38EF529B78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C663FE7-0CFD-86AF-394E-51552F9FCD6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BCEDBA1-8C14-A850-52C1-96419FD0A83B}"/>
              </a:ext>
            </a:extLst>
          </p:cNvPr>
          <p:cNvSpPr>
            <a:spLocks noGrp="1"/>
          </p:cNvSpPr>
          <p:nvPr>
            <p:ph type="dt" sz="half" idx="10"/>
          </p:nvPr>
        </p:nvSpPr>
        <p:spPr/>
        <p:txBody>
          <a:bodyPr/>
          <a:lstStyle/>
          <a:p>
            <a:fld id="{234EBDB8-4FB7-4353-867C-7CCE5F8692FC}" type="datetime1">
              <a:rPr lang="zh-CN" altLang="en-US" smtClean="0"/>
              <a:t>2025/9/5</a:t>
            </a:fld>
            <a:endParaRPr lang="zh-CN" altLang="en-US"/>
          </a:p>
        </p:txBody>
      </p:sp>
      <p:sp>
        <p:nvSpPr>
          <p:cNvPr id="5" name="页脚占位符 4">
            <a:extLst>
              <a:ext uri="{FF2B5EF4-FFF2-40B4-BE49-F238E27FC236}">
                <a16:creationId xmlns:a16="http://schemas.microsoft.com/office/drawing/2014/main" id="{D6B315FA-0BA7-1CD4-006D-2987BB2D5FD8}"/>
              </a:ext>
            </a:extLst>
          </p:cNvPr>
          <p:cNvSpPr>
            <a:spLocks noGrp="1"/>
          </p:cNvSpPr>
          <p:nvPr>
            <p:ph type="ftr" sz="quarter" idx="11"/>
          </p:nvPr>
        </p:nvSpPr>
        <p:spPr/>
        <p:txBody>
          <a:bodyPr/>
          <a:lstStyle/>
          <a:p>
            <a:r>
              <a:rPr lang="en-US" altLang="zh-CN" dirty="0"/>
              <a:t>Qinyan YANG      Stage M2     Soutenance de stage — 2025</a:t>
            </a:r>
            <a:endParaRPr lang="zh-CN" altLang="en-US" dirty="0"/>
          </a:p>
        </p:txBody>
      </p:sp>
      <p:sp>
        <p:nvSpPr>
          <p:cNvPr id="6" name="灯片编号占位符 5">
            <a:extLst>
              <a:ext uri="{FF2B5EF4-FFF2-40B4-BE49-F238E27FC236}">
                <a16:creationId xmlns:a16="http://schemas.microsoft.com/office/drawing/2014/main" id="{FA238AD5-13E9-3FB9-E011-74BFE8333AFD}"/>
              </a:ext>
            </a:extLst>
          </p:cNvPr>
          <p:cNvSpPr>
            <a:spLocks noGrp="1"/>
          </p:cNvSpPr>
          <p:nvPr>
            <p:ph type="sldNum" sz="quarter" idx="12"/>
          </p:nvPr>
        </p:nvSpPr>
        <p:spPr/>
        <p:txBody>
          <a:bodyPr/>
          <a:lstStyle/>
          <a:p>
            <a:fld id="{02625CE3-65DB-4542-8AE7-F35D1171AFB5}" type="slidenum">
              <a:rPr lang="zh-CN" altLang="en-US" smtClean="0"/>
              <a:t>‹#›</a:t>
            </a:fld>
            <a:endParaRPr lang="zh-CN" altLang="en-US"/>
          </a:p>
        </p:txBody>
      </p:sp>
    </p:spTree>
    <p:extLst>
      <p:ext uri="{BB962C8B-B14F-4D97-AF65-F5344CB8AC3E}">
        <p14:creationId xmlns:p14="http://schemas.microsoft.com/office/powerpoint/2010/main" val="2188392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0B4233-04DA-AAC1-457F-E69C2256646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5D985C3-9169-DABE-6A58-BD0A31EF36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376CC2F-D7F8-97D4-C110-81A0ABCE209E}"/>
              </a:ext>
            </a:extLst>
          </p:cNvPr>
          <p:cNvSpPr>
            <a:spLocks noGrp="1"/>
          </p:cNvSpPr>
          <p:nvPr>
            <p:ph type="dt" sz="half" idx="10"/>
          </p:nvPr>
        </p:nvSpPr>
        <p:spPr/>
        <p:txBody>
          <a:bodyPr/>
          <a:lstStyle/>
          <a:p>
            <a:fld id="{8779BF6E-3CCE-4A9C-B93A-8E096CD39CF8}" type="datetime1">
              <a:rPr lang="zh-CN" altLang="en-US" smtClean="0"/>
              <a:t>2025/9/5</a:t>
            </a:fld>
            <a:endParaRPr lang="zh-CN" altLang="en-US"/>
          </a:p>
        </p:txBody>
      </p:sp>
      <p:sp>
        <p:nvSpPr>
          <p:cNvPr id="5" name="页脚占位符 4">
            <a:extLst>
              <a:ext uri="{FF2B5EF4-FFF2-40B4-BE49-F238E27FC236}">
                <a16:creationId xmlns:a16="http://schemas.microsoft.com/office/drawing/2014/main" id="{A930551E-1D63-1809-515B-B6998455F0D1}"/>
              </a:ext>
            </a:extLst>
          </p:cNvPr>
          <p:cNvSpPr>
            <a:spLocks noGrp="1"/>
          </p:cNvSpPr>
          <p:nvPr>
            <p:ph type="ftr" sz="quarter" idx="11"/>
          </p:nvPr>
        </p:nvSpPr>
        <p:spPr/>
        <p:txBody>
          <a:bodyPr/>
          <a:lstStyle/>
          <a:p>
            <a:r>
              <a:rPr lang="en-US" altLang="zh-CN" dirty="0"/>
              <a:t>Qinyan YANG      Stage M2     Soutenance de stage — 2025</a:t>
            </a:r>
            <a:endParaRPr lang="zh-CN" altLang="en-US" dirty="0"/>
          </a:p>
        </p:txBody>
      </p:sp>
      <p:sp>
        <p:nvSpPr>
          <p:cNvPr id="6" name="灯片编号占位符 5">
            <a:extLst>
              <a:ext uri="{FF2B5EF4-FFF2-40B4-BE49-F238E27FC236}">
                <a16:creationId xmlns:a16="http://schemas.microsoft.com/office/drawing/2014/main" id="{6C7E5F9E-9B2C-8CFF-AD8E-7E34E284E171}"/>
              </a:ext>
            </a:extLst>
          </p:cNvPr>
          <p:cNvSpPr>
            <a:spLocks noGrp="1"/>
          </p:cNvSpPr>
          <p:nvPr>
            <p:ph type="sldNum" sz="quarter" idx="12"/>
          </p:nvPr>
        </p:nvSpPr>
        <p:spPr/>
        <p:txBody>
          <a:bodyPr/>
          <a:lstStyle/>
          <a:p>
            <a:fld id="{02625CE3-65DB-4542-8AE7-F35D1171AFB5}" type="slidenum">
              <a:rPr lang="zh-CN" altLang="en-US" smtClean="0"/>
              <a:t>‹#›</a:t>
            </a:fld>
            <a:endParaRPr lang="zh-CN" altLang="en-US"/>
          </a:p>
        </p:txBody>
      </p:sp>
    </p:spTree>
    <p:extLst>
      <p:ext uri="{BB962C8B-B14F-4D97-AF65-F5344CB8AC3E}">
        <p14:creationId xmlns:p14="http://schemas.microsoft.com/office/powerpoint/2010/main" val="2654491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F4C1FC-CCF7-1923-806E-B4A99A93DD8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2BF4DB9-45C5-85F5-D9A7-68203360ACC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6CDB200-2400-A9FA-F4C0-39932D24E1D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B0650A6-2C7C-58EF-7D24-970B7607F964}"/>
              </a:ext>
            </a:extLst>
          </p:cNvPr>
          <p:cNvSpPr>
            <a:spLocks noGrp="1"/>
          </p:cNvSpPr>
          <p:nvPr>
            <p:ph type="dt" sz="half" idx="10"/>
          </p:nvPr>
        </p:nvSpPr>
        <p:spPr/>
        <p:txBody>
          <a:bodyPr/>
          <a:lstStyle/>
          <a:p>
            <a:fld id="{475DA67A-E959-4541-9FC4-1A75232F74E6}" type="datetime1">
              <a:rPr lang="zh-CN" altLang="en-US" smtClean="0"/>
              <a:t>2025/9/5</a:t>
            </a:fld>
            <a:endParaRPr lang="zh-CN" altLang="en-US"/>
          </a:p>
        </p:txBody>
      </p:sp>
      <p:sp>
        <p:nvSpPr>
          <p:cNvPr id="6" name="页脚占位符 5">
            <a:extLst>
              <a:ext uri="{FF2B5EF4-FFF2-40B4-BE49-F238E27FC236}">
                <a16:creationId xmlns:a16="http://schemas.microsoft.com/office/drawing/2014/main" id="{700C0F33-ECCF-BB45-BC0A-D8DD643FB793}"/>
              </a:ext>
            </a:extLst>
          </p:cNvPr>
          <p:cNvSpPr>
            <a:spLocks noGrp="1"/>
          </p:cNvSpPr>
          <p:nvPr>
            <p:ph type="ftr" sz="quarter" idx="11"/>
          </p:nvPr>
        </p:nvSpPr>
        <p:spPr/>
        <p:txBody>
          <a:bodyPr/>
          <a:lstStyle/>
          <a:p>
            <a:r>
              <a:rPr lang="en-US" altLang="zh-CN" dirty="0"/>
              <a:t>Qinyan YANG      Stage M2     Soutenance de stage — 2025</a:t>
            </a:r>
            <a:endParaRPr lang="zh-CN" altLang="en-US" dirty="0"/>
          </a:p>
        </p:txBody>
      </p:sp>
      <p:sp>
        <p:nvSpPr>
          <p:cNvPr id="7" name="灯片编号占位符 6">
            <a:extLst>
              <a:ext uri="{FF2B5EF4-FFF2-40B4-BE49-F238E27FC236}">
                <a16:creationId xmlns:a16="http://schemas.microsoft.com/office/drawing/2014/main" id="{C2E275DE-FF91-91EF-9C8E-1F044686544D}"/>
              </a:ext>
            </a:extLst>
          </p:cNvPr>
          <p:cNvSpPr>
            <a:spLocks noGrp="1"/>
          </p:cNvSpPr>
          <p:nvPr>
            <p:ph type="sldNum" sz="quarter" idx="12"/>
          </p:nvPr>
        </p:nvSpPr>
        <p:spPr/>
        <p:txBody>
          <a:bodyPr/>
          <a:lstStyle/>
          <a:p>
            <a:fld id="{02625CE3-65DB-4542-8AE7-F35D1171AFB5}" type="slidenum">
              <a:rPr lang="zh-CN" altLang="en-US" smtClean="0"/>
              <a:t>‹#›</a:t>
            </a:fld>
            <a:endParaRPr lang="zh-CN" altLang="en-US"/>
          </a:p>
        </p:txBody>
      </p:sp>
    </p:spTree>
    <p:extLst>
      <p:ext uri="{BB962C8B-B14F-4D97-AF65-F5344CB8AC3E}">
        <p14:creationId xmlns:p14="http://schemas.microsoft.com/office/powerpoint/2010/main" val="1334179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9D7054-B6F4-9D33-FC8A-1D6D48CEC70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A01C1DA-C5A9-9A74-ECBD-A6E467C40F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8F53C31-0083-BBD5-096F-D841F5AE83C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EA955DD-6A7B-D3E4-CC4A-7B68CED736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C2B028E-D21A-57A3-B7C6-25C5848EF9A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D8B0F8F-7415-A784-5A10-055BDD20F9EC}"/>
              </a:ext>
            </a:extLst>
          </p:cNvPr>
          <p:cNvSpPr>
            <a:spLocks noGrp="1"/>
          </p:cNvSpPr>
          <p:nvPr>
            <p:ph type="dt" sz="half" idx="10"/>
          </p:nvPr>
        </p:nvSpPr>
        <p:spPr/>
        <p:txBody>
          <a:bodyPr/>
          <a:lstStyle/>
          <a:p>
            <a:fld id="{BB032299-2AFF-4750-930E-A8C9845F860F}" type="datetime1">
              <a:rPr lang="zh-CN" altLang="en-US" smtClean="0"/>
              <a:t>2025/9/5</a:t>
            </a:fld>
            <a:endParaRPr lang="zh-CN" altLang="en-US"/>
          </a:p>
        </p:txBody>
      </p:sp>
      <p:sp>
        <p:nvSpPr>
          <p:cNvPr id="8" name="页脚占位符 7">
            <a:extLst>
              <a:ext uri="{FF2B5EF4-FFF2-40B4-BE49-F238E27FC236}">
                <a16:creationId xmlns:a16="http://schemas.microsoft.com/office/drawing/2014/main" id="{4754D954-FFDE-C50C-76B8-91EE56646839}"/>
              </a:ext>
            </a:extLst>
          </p:cNvPr>
          <p:cNvSpPr>
            <a:spLocks noGrp="1"/>
          </p:cNvSpPr>
          <p:nvPr>
            <p:ph type="ftr" sz="quarter" idx="11"/>
          </p:nvPr>
        </p:nvSpPr>
        <p:spPr/>
        <p:txBody>
          <a:bodyPr/>
          <a:lstStyle/>
          <a:p>
            <a:r>
              <a:rPr lang="en-US" altLang="zh-CN" dirty="0"/>
              <a:t>Qinyan YANG      Stage M2     Soutenance de stage — 2025</a:t>
            </a:r>
            <a:endParaRPr lang="zh-CN" altLang="en-US" dirty="0"/>
          </a:p>
        </p:txBody>
      </p:sp>
      <p:sp>
        <p:nvSpPr>
          <p:cNvPr id="9" name="灯片编号占位符 8">
            <a:extLst>
              <a:ext uri="{FF2B5EF4-FFF2-40B4-BE49-F238E27FC236}">
                <a16:creationId xmlns:a16="http://schemas.microsoft.com/office/drawing/2014/main" id="{9A910DFD-58EB-6F19-8A20-8AB256D64859}"/>
              </a:ext>
            </a:extLst>
          </p:cNvPr>
          <p:cNvSpPr>
            <a:spLocks noGrp="1"/>
          </p:cNvSpPr>
          <p:nvPr>
            <p:ph type="sldNum" sz="quarter" idx="12"/>
          </p:nvPr>
        </p:nvSpPr>
        <p:spPr/>
        <p:txBody>
          <a:bodyPr/>
          <a:lstStyle/>
          <a:p>
            <a:fld id="{02625CE3-65DB-4542-8AE7-F35D1171AFB5}" type="slidenum">
              <a:rPr lang="zh-CN" altLang="en-US" smtClean="0"/>
              <a:t>‹#›</a:t>
            </a:fld>
            <a:endParaRPr lang="zh-CN" altLang="en-US"/>
          </a:p>
        </p:txBody>
      </p:sp>
    </p:spTree>
    <p:extLst>
      <p:ext uri="{BB962C8B-B14F-4D97-AF65-F5344CB8AC3E}">
        <p14:creationId xmlns:p14="http://schemas.microsoft.com/office/powerpoint/2010/main" val="3766451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F820-3043-62FC-4245-FD5A2D913B4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643D773-8AC3-B5C1-82CC-698D5844397E}"/>
              </a:ext>
            </a:extLst>
          </p:cNvPr>
          <p:cNvSpPr>
            <a:spLocks noGrp="1"/>
          </p:cNvSpPr>
          <p:nvPr>
            <p:ph type="dt" sz="half" idx="10"/>
          </p:nvPr>
        </p:nvSpPr>
        <p:spPr/>
        <p:txBody>
          <a:bodyPr/>
          <a:lstStyle/>
          <a:p>
            <a:fld id="{2DEBD993-F656-4D9A-922B-D54B5BC65CD7}" type="datetime1">
              <a:rPr lang="zh-CN" altLang="en-US" smtClean="0"/>
              <a:t>2025/9/5</a:t>
            </a:fld>
            <a:endParaRPr lang="zh-CN" altLang="en-US"/>
          </a:p>
        </p:txBody>
      </p:sp>
      <p:sp>
        <p:nvSpPr>
          <p:cNvPr id="4" name="页脚占位符 3">
            <a:extLst>
              <a:ext uri="{FF2B5EF4-FFF2-40B4-BE49-F238E27FC236}">
                <a16:creationId xmlns:a16="http://schemas.microsoft.com/office/drawing/2014/main" id="{3B793087-D6D4-C4D0-458E-35FAE353B022}"/>
              </a:ext>
            </a:extLst>
          </p:cNvPr>
          <p:cNvSpPr>
            <a:spLocks noGrp="1"/>
          </p:cNvSpPr>
          <p:nvPr>
            <p:ph type="ftr" sz="quarter" idx="11"/>
          </p:nvPr>
        </p:nvSpPr>
        <p:spPr/>
        <p:txBody>
          <a:bodyPr/>
          <a:lstStyle/>
          <a:p>
            <a:r>
              <a:rPr lang="en-US" altLang="zh-CN" dirty="0"/>
              <a:t>Qinyan YANG      Stage M2     Soutenance de stage — 2025</a:t>
            </a:r>
            <a:endParaRPr lang="zh-CN" altLang="en-US" dirty="0"/>
          </a:p>
        </p:txBody>
      </p:sp>
      <p:sp>
        <p:nvSpPr>
          <p:cNvPr id="5" name="灯片编号占位符 4">
            <a:extLst>
              <a:ext uri="{FF2B5EF4-FFF2-40B4-BE49-F238E27FC236}">
                <a16:creationId xmlns:a16="http://schemas.microsoft.com/office/drawing/2014/main" id="{84AC40D3-21BF-0624-322B-298AF062255D}"/>
              </a:ext>
            </a:extLst>
          </p:cNvPr>
          <p:cNvSpPr>
            <a:spLocks noGrp="1"/>
          </p:cNvSpPr>
          <p:nvPr>
            <p:ph type="sldNum" sz="quarter" idx="12"/>
          </p:nvPr>
        </p:nvSpPr>
        <p:spPr/>
        <p:txBody>
          <a:bodyPr/>
          <a:lstStyle/>
          <a:p>
            <a:fld id="{02625CE3-65DB-4542-8AE7-F35D1171AFB5}" type="slidenum">
              <a:rPr lang="zh-CN" altLang="en-US" smtClean="0"/>
              <a:t>‹#›</a:t>
            </a:fld>
            <a:endParaRPr lang="zh-CN" altLang="en-US"/>
          </a:p>
        </p:txBody>
      </p:sp>
    </p:spTree>
    <p:extLst>
      <p:ext uri="{BB962C8B-B14F-4D97-AF65-F5344CB8AC3E}">
        <p14:creationId xmlns:p14="http://schemas.microsoft.com/office/powerpoint/2010/main" val="3406974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DA2326E-FB02-333F-249A-3F01BCFA56DD}"/>
              </a:ext>
            </a:extLst>
          </p:cNvPr>
          <p:cNvSpPr>
            <a:spLocks noGrp="1"/>
          </p:cNvSpPr>
          <p:nvPr>
            <p:ph type="dt" sz="half" idx="10"/>
          </p:nvPr>
        </p:nvSpPr>
        <p:spPr/>
        <p:txBody>
          <a:bodyPr/>
          <a:lstStyle/>
          <a:p>
            <a:fld id="{A1D61C26-D65A-4F03-8C59-0B563EC00C68}" type="datetime1">
              <a:rPr lang="zh-CN" altLang="en-US" smtClean="0"/>
              <a:t>2025/9/5</a:t>
            </a:fld>
            <a:endParaRPr lang="zh-CN" altLang="en-US"/>
          </a:p>
        </p:txBody>
      </p:sp>
      <p:sp>
        <p:nvSpPr>
          <p:cNvPr id="3" name="页脚占位符 2">
            <a:extLst>
              <a:ext uri="{FF2B5EF4-FFF2-40B4-BE49-F238E27FC236}">
                <a16:creationId xmlns:a16="http://schemas.microsoft.com/office/drawing/2014/main" id="{9B9DB7D7-EF73-54DE-91E0-F722C0A7F3CC}"/>
              </a:ext>
            </a:extLst>
          </p:cNvPr>
          <p:cNvSpPr>
            <a:spLocks noGrp="1"/>
          </p:cNvSpPr>
          <p:nvPr>
            <p:ph type="ftr" sz="quarter" idx="11"/>
          </p:nvPr>
        </p:nvSpPr>
        <p:spPr/>
        <p:txBody>
          <a:bodyPr/>
          <a:lstStyle/>
          <a:p>
            <a:r>
              <a:rPr lang="en-US" altLang="zh-CN" dirty="0"/>
              <a:t>Qinyan YANG      Stage M2     Soutenance de stage — 2025</a:t>
            </a:r>
            <a:endParaRPr lang="zh-CN" altLang="en-US" dirty="0"/>
          </a:p>
        </p:txBody>
      </p:sp>
      <p:sp>
        <p:nvSpPr>
          <p:cNvPr id="4" name="灯片编号占位符 3">
            <a:extLst>
              <a:ext uri="{FF2B5EF4-FFF2-40B4-BE49-F238E27FC236}">
                <a16:creationId xmlns:a16="http://schemas.microsoft.com/office/drawing/2014/main" id="{5BE57910-A42B-49FD-6047-683C77FA3376}"/>
              </a:ext>
            </a:extLst>
          </p:cNvPr>
          <p:cNvSpPr>
            <a:spLocks noGrp="1"/>
          </p:cNvSpPr>
          <p:nvPr>
            <p:ph type="sldNum" sz="quarter" idx="12"/>
          </p:nvPr>
        </p:nvSpPr>
        <p:spPr/>
        <p:txBody>
          <a:bodyPr/>
          <a:lstStyle/>
          <a:p>
            <a:fld id="{02625CE3-65DB-4542-8AE7-F35D1171AFB5}" type="slidenum">
              <a:rPr lang="zh-CN" altLang="en-US" smtClean="0"/>
              <a:t>‹#›</a:t>
            </a:fld>
            <a:endParaRPr lang="zh-CN" altLang="en-US"/>
          </a:p>
        </p:txBody>
      </p:sp>
    </p:spTree>
    <p:extLst>
      <p:ext uri="{BB962C8B-B14F-4D97-AF65-F5344CB8AC3E}">
        <p14:creationId xmlns:p14="http://schemas.microsoft.com/office/powerpoint/2010/main" val="1765626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8490D9-9D19-97FF-E562-217ADC6A625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8168279-A08F-9FD4-E6EA-0291F20130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1CDAA22-BB7F-8F50-86C2-232549D6F2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A44D480-0632-656C-F1B0-4E73C2C8C4E0}"/>
              </a:ext>
            </a:extLst>
          </p:cNvPr>
          <p:cNvSpPr>
            <a:spLocks noGrp="1"/>
          </p:cNvSpPr>
          <p:nvPr>
            <p:ph type="dt" sz="half" idx="10"/>
          </p:nvPr>
        </p:nvSpPr>
        <p:spPr/>
        <p:txBody>
          <a:bodyPr/>
          <a:lstStyle/>
          <a:p>
            <a:fld id="{6C8A1E18-DDF9-4E9B-9CD6-291AC23048BD}" type="datetime1">
              <a:rPr lang="zh-CN" altLang="en-US" smtClean="0"/>
              <a:t>2025/9/5</a:t>
            </a:fld>
            <a:endParaRPr lang="zh-CN" altLang="en-US"/>
          </a:p>
        </p:txBody>
      </p:sp>
      <p:sp>
        <p:nvSpPr>
          <p:cNvPr id="6" name="页脚占位符 5">
            <a:extLst>
              <a:ext uri="{FF2B5EF4-FFF2-40B4-BE49-F238E27FC236}">
                <a16:creationId xmlns:a16="http://schemas.microsoft.com/office/drawing/2014/main" id="{7C67547D-9048-36C3-302C-8151D2254910}"/>
              </a:ext>
            </a:extLst>
          </p:cNvPr>
          <p:cNvSpPr>
            <a:spLocks noGrp="1"/>
          </p:cNvSpPr>
          <p:nvPr>
            <p:ph type="ftr" sz="quarter" idx="11"/>
          </p:nvPr>
        </p:nvSpPr>
        <p:spPr/>
        <p:txBody>
          <a:bodyPr/>
          <a:lstStyle/>
          <a:p>
            <a:r>
              <a:rPr lang="en-US" altLang="zh-CN" dirty="0"/>
              <a:t>Qinyan YANG      Stage M2     Soutenance de stage — 2025</a:t>
            </a:r>
            <a:endParaRPr lang="zh-CN" altLang="en-US" dirty="0"/>
          </a:p>
        </p:txBody>
      </p:sp>
      <p:sp>
        <p:nvSpPr>
          <p:cNvPr id="7" name="灯片编号占位符 6">
            <a:extLst>
              <a:ext uri="{FF2B5EF4-FFF2-40B4-BE49-F238E27FC236}">
                <a16:creationId xmlns:a16="http://schemas.microsoft.com/office/drawing/2014/main" id="{4D9DE9C8-B6FB-0322-B3EB-BE3C46FA1413}"/>
              </a:ext>
            </a:extLst>
          </p:cNvPr>
          <p:cNvSpPr>
            <a:spLocks noGrp="1"/>
          </p:cNvSpPr>
          <p:nvPr>
            <p:ph type="sldNum" sz="quarter" idx="12"/>
          </p:nvPr>
        </p:nvSpPr>
        <p:spPr/>
        <p:txBody>
          <a:bodyPr/>
          <a:lstStyle/>
          <a:p>
            <a:fld id="{02625CE3-65DB-4542-8AE7-F35D1171AFB5}" type="slidenum">
              <a:rPr lang="zh-CN" altLang="en-US" smtClean="0"/>
              <a:t>‹#›</a:t>
            </a:fld>
            <a:endParaRPr lang="zh-CN" altLang="en-US"/>
          </a:p>
        </p:txBody>
      </p:sp>
    </p:spTree>
    <p:extLst>
      <p:ext uri="{BB962C8B-B14F-4D97-AF65-F5344CB8AC3E}">
        <p14:creationId xmlns:p14="http://schemas.microsoft.com/office/powerpoint/2010/main" val="2397430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758E8E-005E-1D86-8D3D-0CB86473539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0B5A1F6-3AE5-E59A-FF5B-8165A34F87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80E870A-75A2-669B-BAD9-F77E73C3DF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87BB16E-9469-0837-3A92-BCC0E0B2212D}"/>
              </a:ext>
            </a:extLst>
          </p:cNvPr>
          <p:cNvSpPr>
            <a:spLocks noGrp="1"/>
          </p:cNvSpPr>
          <p:nvPr>
            <p:ph type="dt" sz="half" idx="10"/>
          </p:nvPr>
        </p:nvSpPr>
        <p:spPr/>
        <p:txBody>
          <a:bodyPr/>
          <a:lstStyle/>
          <a:p>
            <a:fld id="{5425BCBD-A416-4BBC-B0F2-54B82278EF70}" type="datetime1">
              <a:rPr lang="zh-CN" altLang="en-US" smtClean="0"/>
              <a:t>2025/9/5</a:t>
            </a:fld>
            <a:endParaRPr lang="zh-CN" altLang="en-US"/>
          </a:p>
        </p:txBody>
      </p:sp>
      <p:sp>
        <p:nvSpPr>
          <p:cNvPr id="6" name="页脚占位符 5">
            <a:extLst>
              <a:ext uri="{FF2B5EF4-FFF2-40B4-BE49-F238E27FC236}">
                <a16:creationId xmlns:a16="http://schemas.microsoft.com/office/drawing/2014/main" id="{0A5AAE54-416B-4E4D-ED72-0609D9B16B17}"/>
              </a:ext>
            </a:extLst>
          </p:cNvPr>
          <p:cNvSpPr>
            <a:spLocks noGrp="1"/>
          </p:cNvSpPr>
          <p:nvPr>
            <p:ph type="ftr" sz="quarter" idx="11"/>
          </p:nvPr>
        </p:nvSpPr>
        <p:spPr/>
        <p:txBody>
          <a:bodyPr/>
          <a:lstStyle/>
          <a:p>
            <a:r>
              <a:rPr lang="en-US" altLang="zh-CN" dirty="0"/>
              <a:t>Qinyan YANG      Stage M2     Soutenance de stage — 2025</a:t>
            </a:r>
            <a:endParaRPr lang="zh-CN" altLang="en-US" dirty="0"/>
          </a:p>
        </p:txBody>
      </p:sp>
      <p:sp>
        <p:nvSpPr>
          <p:cNvPr id="7" name="灯片编号占位符 6">
            <a:extLst>
              <a:ext uri="{FF2B5EF4-FFF2-40B4-BE49-F238E27FC236}">
                <a16:creationId xmlns:a16="http://schemas.microsoft.com/office/drawing/2014/main" id="{154FE6CF-A6A4-36D8-B867-85B74841FA3E}"/>
              </a:ext>
            </a:extLst>
          </p:cNvPr>
          <p:cNvSpPr>
            <a:spLocks noGrp="1"/>
          </p:cNvSpPr>
          <p:nvPr>
            <p:ph type="sldNum" sz="quarter" idx="12"/>
          </p:nvPr>
        </p:nvSpPr>
        <p:spPr/>
        <p:txBody>
          <a:bodyPr/>
          <a:lstStyle/>
          <a:p>
            <a:fld id="{02625CE3-65DB-4542-8AE7-F35D1171AFB5}" type="slidenum">
              <a:rPr lang="zh-CN" altLang="en-US" smtClean="0"/>
              <a:t>‹#›</a:t>
            </a:fld>
            <a:endParaRPr lang="zh-CN" altLang="en-US"/>
          </a:p>
        </p:txBody>
      </p:sp>
    </p:spTree>
    <p:extLst>
      <p:ext uri="{BB962C8B-B14F-4D97-AF65-F5344CB8AC3E}">
        <p14:creationId xmlns:p14="http://schemas.microsoft.com/office/powerpoint/2010/main" val="875054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3F8EFE-7888-93D0-BE80-38E0B3124E4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D6B470F-451F-DAC2-A562-32F298E686E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4E91B0D-CEF5-ECA7-B874-17B4B78E9A57}"/>
              </a:ext>
            </a:extLst>
          </p:cNvPr>
          <p:cNvSpPr>
            <a:spLocks noGrp="1"/>
          </p:cNvSpPr>
          <p:nvPr>
            <p:ph type="dt" sz="half" idx="10"/>
          </p:nvPr>
        </p:nvSpPr>
        <p:spPr/>
        <p:txBody>
          <a:bodyPr/>
          <a:lstStyle/>
          <a:p>
            <a:fld id="{97DCFC7A-98FB-4A9E-BFAE-75934A3508B6}" type="datetime1">
              <a:rPr lang="zh-CN" altLang="en-US" smtClean="0"/>
              <a:t>2025/9/5</a:t>
            </a:fld>
            <a:endParaRPr lang="zh-CN" altLang="en-US"/>
          </a:p>
        </p:txBody>
      </p:sp>
      <p:sp>
        <p:nvSpPr>
          <p:cNvPr id="5" name="页脚占位符 4">
            <a:extLst>
              <a:ext uri="{FF2B5EF4-FFF2-40B4-BE49-F238E27FC236}">
                <a16:creationId xmlns:a16="http://schemas.microsoft.com/office/drawing/2014/main" id="{48985FAF-427A-9BF9-BE9C-A653AC5A965F}"/>
              </a:ext>
            </a:extLst>
          </p:cNvPr>
          <p:cNvSpPr>
            <a:spLocks noGrp="1"/>
          </p:cNvSpPr>
          <p:nvPr>
            <p:ph type="ftr" sz="quarter" idx="11"/>
          </p:nvPr>
        </p:nvSpPr>
        <p:spPr/>
        <p:txBody>
          <a:bodyPr/>
          <a:lstStyle/>
          <a:p>
            <a:r>
              <a:rPr lang="en-US" altLang="zh-CN" dirty="0"/>
              <a:t>Qinyan YANG      Stage M2     Soutenance de stage — 2025</a:t>
            </a:r>
            <a:endParaRPr lang="zh-CN" altLang="en-US" dirty="0"/>
          </a:p>
        </p:txBody>
      </p:sp>
      <p:sp>
        <p:nvSpPr>
          <p:cNvPr id="6" name="灯片编号占位符 5">
            <a:extLst>
              <a:ext uri="{FF2B5EF4-FFF2-40B4-BE49-F238E27FC236}">
                <a16:creationId xmlns:a16="http://schemas.microsoft.com/office/drawing/2014/main" id="{9B10ECF8-1491-62EF-68DF-12A335826AA4}"/>
              </a:ext>
            </a:extLst>
          </p:cNvPr>
          <p:cNvSpPr>
            <a:spLocks noGrp="1"/>
          </p:cNvSpPr>
          <p:nvPr>
            <p:ph type="sldNum" sz="quarter" idx="12"/>
          </p:nvPr>
        </p:nvSpPr>
        <p:spPr/>
        <p:txBody>
          <a:bodyPr/>
          <a:lstStyle/>
          <a:p>
            <a:fld id="{02625CE3-65DB-4542-8AE7-F35D1171AFB5}" type="slidenum">
              <a:rPr lang="zh-CN" altLang="en-US" smtClean="0"/>
              <a:t>‹#›</a:t>
            </a:fld>
            <a:endParaRPr lang="zh-CN" altLang="en-US"/>
          </a:p>
        </p:txBody>
      </p:sp>
    </p:spTree>
    <p:extLst>
      <p:ext uri="{BB962C8B-B14F-4D97-AF65-F5344CB8AC3E}">
        <p14:creationId xmlns:p14="http://schemas.microsoft.com/office/powerpoint/2010/main" val="201851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1CFEAD2-339E-90D9-D200-00264D2AFD9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4D28B93-0A22-1DB3-A15B-0CA2A448676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1305415-61B5-33DB-E29D-84B362B73D55}"/>
              </a:ext>
            </a:extLst>
          </p:cNvPr>
          <p:cNvSpPr>
            <a:spLocks noGrp="1"/>
          </p:cNvSpPr>
          <p:nvPr>
            <p:ph type="dt" sz="half" idx="10"/>
          </p:nvPr>
        </p:nvSpPr>
        <p:spPr/>
        <p:txBody>
          <a:bodyPr/>
          <a:lstStyle/>
          <a:p>
            <a:fld id="{F4E0011D-CF7C-40A4-BC3D-EFC611E8BB2E}" type="datetime1">
              <a:rPr lang="zh-CN" altLang="en-US" smtClean="0"/>
              <a:t>2025/9/5</a:t>
            </a:fld>
            <a:endParaRPr lang="zh-CN" altLang="en-US"/>
          </a:p>
        </p:txBody>
      </p:sp>
      <p:sp>
        <p:nvSpPr>
          <p:cNvPr id="5" name="页脚占位符 4">
            <a:extLst>
              <a:ext uri="{FF2B5EF4-FFF2-40B4-BE49-F238E27FC236}">
                <a16:creationId xmlns:a16="http://schemas.microsoft.com/office/drawing/2014/main" id="{1BCD2DEB-8C9D-58FD-1BEC-5B572747F628}"/>
              </a:ext>
            </a:extLst>
          </p:cNvPr>
          <p:cNvSpPr>
            <a:spLocks noGrp="1"/>
          </p:cNvSpPr>
          <p:nvPr>
            <p:ph type="ftr" sz="quarter" idx="11"/>
          </p:nvPr>
        </p:nvSpPr>
        <p:spPr/>
        <p:txBody>
          <a:bodyPr/>
          <a:lstStyle/>
          <a:p>
            <a:r>
              <a:rPr lang="en-US" altLang="zh-CN" dirty="0"/>
              <a:t>Qinyan YANG      Stage M2     Soutenance de stage — 2025</a:t>
            </a:r>
            <a:endParaRPr lang="zh-CN" altLang="en-US" dirty="0"/>
          </a:p>
        </p:txBody>
      </p:sp>
      <p:sp>
        <p:nvSpPr>
          <p:cNvPr id="6" name="灯片编号占位符 5">
            <a:extLst>
              <a:ext uri="{FF2B5EF4-FFF2-40B4-BE49-F238E27FC236}">
                <a16:creationId xmlns:a16="http://schemas.microsoft.com/office/drawing/2014/main" id="{86302D8F-43EE-3B83-1A93-7DD2F27C5BEA}"/>
              </a:ext>
            </a:extLst>
          </p:cNvPr>
          <p:cNvSpPr>
            <a:spLocks noGrp="1"/>
          </p:cNvSpPr>
          <p:nvPr>
            <p:ph type="sldNum" sz="quarter" idx="12"/>
          </p:nvPr>
        </p:nvSpPr>
        <p:spPr/>
        <p:txBody>
          <a:bodyPr/>
          <a:lstStyle/>
          <a:p>
            <a:fld id="{02625CE3-65DB-4542-8AE7-F35D1171AFB5}" type="slidenum">
              <a:rPr lang="zh-CN" altLang="en-US" smtClean="0"/>
              <a:t>‹#›</a:t>
            </a:fld>
            <a:endParaRPr lang="zh-CN" altLang="en-US"/>
          </a:p>
        </p:txBody>
      </p:sp>
    </p:spTree>
    <p:extLst>
      <p:ext uri="{BB962C8B-B14F-4D97-AF65-F5344CB8AC3E}">
        <p14:creationId xmlns:p14="http://schemas.microsoft.com/office/powerpoint/2010/main" val="118822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2F1A110-7403-6FBE-69D2-59B6C4C371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4245537-D10F-DCDA-333D-72C20E50CC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968391-2690-5D9D-B45B-D6EA86A2E3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B0F32B-5495-4574-8095-4904A2284540}" type="datetime1">
              <a:rPr lang="zh-CN" altLang="en-US" smtClean="0"/>
              <a:t>2025/9/5</a:t>
            </a:fld>
            <a:endParaRPr lang="zh-CN" altLang="en-US"/>
          </a:p>
        </p:txBody>
      </p:sp>
      <p:sp>
        <p:nvSpPr>
          <p:cNvPr id="5" name="页脚占位符 4">
            <a:extLst>
              <a:ext uri="{FF2B5EF4-FFF2-40B4-BE49-F238E27FC236}">
                <a16:creationId xmlns:a16="http://schemas.microsoft.com/office/drawing/2014/main" id="{063A9CB8-F08C-55A5-AE3D-3DB5819B57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ltLang="zh-CN" dirty="0"/>
              <a:t>Qinyan YANG      Stage M2     Soutenance de stage — 2025</a:t>
            </a:r>
            <a:endParaRPr lang="zh-CN" altLang="en-US" dirty="0"/>
          </a:p>
        </p:txBody>
      </p:sp>
      <p:sp>
        <p:nvSpPr>
          <p:cNvPr id="6" name="灯片编号占位符 5">
            <a:extLst>
              <a:ext uri="{FF2B5EF4-FFF2-40B4-BE49-F238E27FC236}">
                <a16:creationId xmlns:a16="http://schemas.microsoft.com/office/drawing/2014/main" id="{20C2C15E-9351-7D07-5FA9-6230EF8E2C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625CE3-65DB-4542-8AE7-F35D1171AFB5}" type="slidenum">
              <a:rPr lang="zh-CN" altLang="en-US" smtClean="0"/>
              <a:t>‹#›</a:t>
            </a:fld>
            <a:endParaRPr lang="zh-CN" altLang="en-US"/>
          </a:p>
        </p:txBody>
      </p:sp>
    </p:spTree>
    <p:extLst>
      <p:ext uri="{BB962C8B-B14F-4D97-AF65-F5344CB8AC3E}">
        <p14:creationId xmlns:p14="http://schemas.microsoft.com/office/powerpoint/2010/main" val="676396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6" name="图片 5" descr="画着卡通人物&#10;&#10;AI 生成的内容可能不正确。">
            <a:extLst>
              <a:ext uri="{FF2B5EF4-FFF2-40B4-BE49-F238E27FC236}">
                <a16:creationId xmlns:a16="http://schemas.microsoft.com/office/drawing/2014/main" id="{8F490EAF-64B5-1D08-7AB6-01168E907D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4736" y="416716"/>
            <a:ext cx="8896807" cy="1638384"/>
          </a:xfrm>
          <a:prstGeom prst="rect">
            <a:avLst/>
          </a:prstGeom>
        </p:spPr>
      </p:pic>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800" noProof="0" dirty="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
        <p:nvSpPr>
          <p:cNvPr id="4" name="副标题 2">
            <a:extLst>
              <a:ext uri="{FF2B5EF4-FFF2-40B4-BE49-F238E27FC236}">
                <a16:creationId xmlns:a16="http://schemas.microsoft.com/office/drawing/2014/main" id="{6425B6D5-29C5-F6E6-DD5F-C7DAD1DF757C}"/>
              </a:ext>
            </a:extLst>
          </p:cNvPr>
          <p:cNvSpPr txBox="1">
            <a:spLocks/>
          </p:cNvSpPr>
          <p:nvPr/>
        </p:nvSpPr>
        <p:spPr>
          <a:xfrm>
            <a:off x="6945620" y="5850675"/>
            <a:ext cx="4910874" cy="59060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400" noProof="0" dirty="0">
                <a:latin typeface="Calibri" panose="020F0502020204030204" pitchFamily="34" charset="0"/>
                <a:ea typeface="Calibri" panose="020F0502020204030204" pitchFamily="34" charset="0"/>
                <a:cs typeface="Calibri" panose="020F0502020204030204" pitchFamily="34" charset="0"/>
              </a:rPr>
              <a:t> </a:t>
            </a:r>
            <a:r>
              <a:rPr lang="fr-FR" sz="1400" noProof="0" dirty="0">
                <a:solidFill>
                  <a:schemeClr val="tx2"/>
                </a:solidFill>
                <a:latin typeface="Calibri" panose="020F0502020204030204" pitchFamily="34" charset="0"/>
                <a:ea typeface="Calibri" panose="020F0502020204030204" pitchFamily="34" charset="0"/>
                <a:cs typeface="Calibri" panose="020F0502020204030204" pitchFamily="34" charset="0"/>
              </a:rPr>
              <a:t>M2 IM INUM 2024-2025                                </a:t>
            </a:r>
            <a:r>
              <a:rPr lang="fr-FR" sz="1400" noProof="0" dirty="0" err="1">
                <a:solidFill>
                  <a:schemeClr val="tx2"/>
                </a:solidFill>
                <a:latin typeface="Calibri" panose="020F0502020204030204" pitchFamily="34" charset="0"/>
                <a:ea typeface="Calibri" panose="020F0502020204030204" pitchFamily="34" charset="0"/>
                <a:cs typeface="Calibri" panose="020F0502020204030204" pitchFamily="34" charset="0"/>
              </a:rPr>
              <a:t>Qinyan</a:t>
            </a:r>
            <a:r>
              <a:rPr lang="fr-FR" sz="1400" noProof="0" dirty="0">
                <a:solidFill>
                  <a:schemeClr val="tx2"/>
                </a:solidFill>
                <a:latin typeface="Calibri" panose="020F0502020204030204" pitchFamily="34" charset="0"/>
                <a:ea typeface="Calibri" panose="020F0502020204030204" pitchFamily="34" charset="0"/>
                <a:cs typeface="Calibri" panose="020F0502020204030204" pitchFamily="34" charset="0"/>
              </a:rPr>
              <a:t> Yang</a:t>
            </a:r>
          </a:p>
          <a:p>
            <a:pPr marL="0" indent="0">
              <a:buNone/>
            </a:pPr>
            <a:r>
              <a:rPr lang="fr-FR" sz="1400" noProof="0" dirty="0">
                <a:solidFill>
                  <a:schemeClr val="tx2"/>
                </a:solidFill>
                <a:latin typeface="Calibri" panose="020F0502020204030204" pitchFamily="34" charset="0"/>
                <a:ea typeface="Calibri" panose="020F0502020204030204" pitchFamily="34" charset="0"/>
                <a:cs typeface="Calibri" panose="020F0502020204030204" pitchFamily="34" charset="0"/>
              </a:rPr>
              <a:t>			         27/08/2025</a:t>
            </a:r>
            <a:endParaRPr lang="fr-FR" sz="1400" noProof="0" dirty="0">
              <a:solidFill>
                <a:schemeClr val="tx2"/>
              </a:solidFill>
              <a:latin typeface="Calibri" panose="020F0502020204030204" pitchFamily="34" charset="0"/>
              <a:cs typeface="Calibri" panose="020F0502020204030204" pitchFamily="34" charset="0"/>
            </a:endParaRPr>
          </a:p>
        </p:txBody>
      </p:sp>
      <p:sp>
        <p:nvSpPr>
          <p:cNvPr id="7" name="副标题 2">
            <a:extLst>
              <a:ext uri="{FF2B5EF4-FFF2-40B4-BE49-F238E27FC236}">
                <a16:creationId xmlns:a16="http://schemas.microsoft.com/office/drawing/2014/main" id="{04E4B042-FBCE-B4E8-DEBF-9DCE0FCF5420}"/>
              </a:ext>
            </a:extLst>
          </p:cNvPr>
          <p:cNvSpPr txBox="1">
            <a:spLocks/>
          </p:cNvSpPr>
          <p:nvPr/>
        </p:nvSpPr>
        <p:spPr>
          <a:xfrm>
            <a:off x="6945620" y="5174003"/>
            <a:ext cx="4910874" cy="621444"/>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fr-FR" sz="1400" noProof="0" dirty="0">
                <a:solidFill>
                  <a:schemeClr val="tx2"/>
                </a:solidFill>
                <a:latin typeface="Calibri" panose="020F0502020204030204" pitchFamily="34" charset="0"/>
                <a:ea typeface="Calibri" panose="020F0502020204030204" pitchFamily="34" charset="0"/>
                <a:cs typeface="Calibri" panose="020F0502020204030204" pitchFamily="34" charset="0"/>
              </a:rPr>
              <a:t>Encadrants:</a:t>
            </a:r>
          </a:p>
          <a:p>
            <a:pPr algn="l"/>
            <a:r>
              <a:rPr lang="fr-FR" sz="1400" noProof="0" dirty="0">
                <a:solidFill>
                  <a:schemeClr val="tx2"/>
                </a:solidFill>
                <a:latin typeface="Calibri" panose="020F0502020204030204" pitchFamily="34" charset="0"/>
                <a:ea typeface="Calibri" panose="020F0502020204030204" pitchFamily="34" charset="0"/>
                <a:cs typeface="Calibri" panose="020F0502020204030204" pitchFamily="34" charset="0"/>
              </a:rPr>
              <a:t>Konstantin Brenner, Jean-Raynald de </a:t>
            </a:r>
            <a:r>
              <a:rPr lang="fr-FR" sz="1400" noProof="0" dirty="0" err="1">
                <a:solidFill>
                  <a:schemeClr val="tx2"/>
                </a:solidFill>
                <a:latin typeface="Calibri" panose="020F0502020204030204" pitchFamily="34" charset="0"/>
                <a:ea typeface="Calibri" panose="020F0502020204030204" pitchFamily="34" charset="0"/>
                <a:cs typeface="Calibri" panose="020F0502020204030204" pitchFamily="34" charset="0"/>
              </a:rPr>
              <a:t>Dreuzy</a:t>
            </a:r>
            <a:r>
              <a:rPr lang="fr-FR" sz="1400" noProof="0" dirty="0">
                <a:solidFill>
                  <a:schemeClr val="tx2"/>
                </a:solidFill>
                <a:latin typeface="Calibri" panose="020F0502020204030204" pitchFamily="34" charset="0"/>
                <a:ea typeface="Calibri" panose="020F0502020204030204" pitchFamily="34" charset="0"/>
                <a:cs typeface="Calibri" panose="020F0502020204030204" pitchFamily="34" charset="0"/>
              </a:rPr>
              <a:t> et Jean Marçais</a:t>
            </a:r>
            <a:endParaRPr lang="fr-FR" sz="1400" noProof="0" dirty="0">
              <a:solidFill>
                <a:schemeClr val="tx2"/>
              </a:solidFill>
              <a:latin typeface="Calibri" panose="020F0502020204030204" pitchFamily="34" charset="0"/>
              <a:cs typeface="Calibri" panose="020F0502020204030204" pitchFamily="34" charset="0"/>
            </a:endParaRPr>
          </a:p>
        </p:txBody>
      </p:sp>
      <p:sp>
        <p:nvSpPr>
          <p:cNvPr id="5" name="标题 1">
            <a:extLst>
              <a:ext uri="{FF2B5EF4-FFF2-40B4-BE49-F238E27FC236}">
                <a16:creationId xmlns:a16="http://schemas.microsoft.com/office/drawing/2014/main" id="{E53B0F76-2FAD-92DE-EAEC-46686712E083}"/>
              </a:ext>
            </a:extLst>
          </p:cNvPr>
          <p:cNvSpPr txBox="1">
            <a:spLocks/>
          </p:cNvSpPr>
          <p:nvPr/>
        </p:nvSpPr>
        <p:spPr>
          <a:xfrm>
            <a:off x="775469" y="2959347"/>
            <a:ext cx="11081025" cy="11521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3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Modèle numérique en Hydrogéologie</a:t>
            </a:r>
            <a:endParaRPr lang="fr-FR" sz="4300" b="1" noProof="0" dirty="0">
              <a:solidFill>
                <a:schemeClr val="tx2"/>
              </a:solidFill>
              <a:latin typeface="Calibri" panose="020F0502020204030204" pitchFamily="34" charset="0"/>
              <a:cs typeface="Calibri" panose="020F0502020204030204" pitchFamily="34" charset="0"/>
            </a:endParaRPr>
          </a:p>
        </p:txBody>
      </p:sp>
      <p:sp>
        <p:nvSpPr>
          <p:cNvPr id="24" name="页脚占位符 23">
            <a:extLst>
              <a:ext uri="{FF2B5EF4-FFF2-40B4-BE49-F238E27FC236}">
                <a16:creationId xmlns:a16="http://schemas.microsoft.com/office/drawing/2014/main" id="{33F2EC49-EFB2-0199-52C0-4F436B3A7C6A}"/>
              </a:ext>
            </a:extLst>
          </p:cNvPr>
          <p:cNvSpPr>
            <a:spLocks noGrp="1"/>
          </p:cNvSpPr>
          <p:nvPr>
            <p:ph type="ftr" sz="quarter" idx="11"/>
          </p:nvPr>
        </p:nvSpPr>
        <p:spPr/>
        <p:txBody>
          <a:bodyPr/>
          <a:lstStyle/>
          <a:p>
            <a:r>
              <a:rPr lang="fr-FR" noProof="0" dirty="0" err="1"/>
              <a:t>Qinyan</a:t>
            </a:r>
            <a:r>
              <a:rPr lang="fr-FR" noProof="0" dirty="0"/>
              <a:t> YANG      Stage M2     Soutenance de stage — 2025</a:t>
            </a:r>
          </a:p>
        </p:txBody>
      </p:sp>
      <p:sp>
        <p:nvSpPr>
          <p:cNvPr id="25" name="灯片编号占位符 24">
            <a:extLst>
              <a:ext uri="{FF2B5EF4-FFF2-40B4-BE49-F238E27FC236}">
                <a16:creationId xmlns:a16="http://schemas.microsoft.com/office/drawing/2014/main" id="{D16548FD-C4A3-F9AF-92A6-70D709A4D1A5}"/>
              </a:ext>
            </a:extLst>
          </p:cNvPr>
          <p:cNvSpPr>
            <a:spLocks noGrp="1"/>
          </p:cNvSpPr>
          <p:nvPr>
            <p:ph type="sldNum" sz="quarter" idx="12"/>
          </p:nvPr>
        </p:nvSpPr>
        <p:spPr/>
        <p:txBody>
          <a:bodyPr/>
          <a:lstStyle/>
          <a:p>
            <a:fld id="{02625CE3-65DB-4542-8AE7-F35D1171AFB5}" type="slidenum">
              <a:rPr lang="fr-FR" noProof="0" smtClean="0"/>
              <a:t>1</a:t>
            </a:fld>
            <a:endParaRPr lang="fr-FR" noProof="0" dirty="0"/>
          </a:p>
        </p:txBody>
      </p:sp>
    </p:spTree>
    <p:extLst>
      <p:ext uri="{BB962C8B-B14F-4D97-AF65-F5344CB8AC3E}">
        <p14:creationId xmlns:p14="http://schemas.microsoft.com/office/powerpoint/2010/main" val="3856880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80">
          <a:fgClr>
            <a:schemeClr val="accent1">
              <a:lumMod val="20000"/>
              <a:lumOff val="80000"/>
            </a:schemeClr>
          </a:fgClr>
          <a:bgClr>
            <a:schemeClr val="bg1"/>
          </a:bgClr>
        </a:patt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0" name="Rectangle 9">
            <a:extLst>
              <a:ext uri="{FF2B5EF4-FFF2-40B4-BE49-F238E27FC236}">
                <a16:creationId xmlns:a16="http://schemas.microsoft.com/office/drawing/2014/main" id="{1561AEE4-4E38-4BAC-976D-E0DE523FC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12" name="Group 11">
            <a:extLst>
              <a:ext uri="{FF2B5EF4-FFF2-40B4-BE49-F238E27FC236}">
                <a16:creationId xmlns:a16="http://schemas.microsoft.com/office/drawing/2014/main" id="{F0BC676B-D19A-44DB-910A-0C0E6D433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431" y="3985"/>
            <a:ext cx="9772765" cy="6858000"/>
            <a:chOff x="1303402" y="3985"/>
            <a:chExt cx="9772765" cy="6858000"/>
          </a:xfrm>
        </p:grpSpPr>
        <p:sp>
          <p:nvSpPr>
            <p:cNvPr id="13" name="Freeform: Shape 12">
              <a:extLst>
                <a:ext uri="{FF2B5EF4-FFF2-40B4-BE49-F238E27FC236}">
                  <a16:creationId xmlns:a16="http://schemas.microsoft.com/office/drawing/2014/main" id="{999AA485-A13F-4455-814E-C116AD7E0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4" name="Freeform: Shape 13">
              <a:extLst>
                <a:ext uri="{FF2B5EF4-FFF2-40B4-BE49-F238E27FC236}">
                  <a16:creationId xmlns:a16="http://schemas.microsoft.com/office/drawing/2014/main" id="{9C90D55F-0AFB-45E5-8815-A4701774C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5" name="Freeform: Shape 14">
              <a:extLst>
                <a:ext uri="{FF2B5EF4-FFF2-40B4-BE49-F238E27FC236}">
                  <a16:creationId xmlns:a16="http://schemas.microsoft.com/office/drawing/2014/main" id="{D476B6C1-4A41-48E6-8540-FC48FCD76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6" name="Freeform: Shape 15">
              <a:extLst>
                <a:ext uri="{FF2B5EF4-FFF2-40B4-BE49-F238E27FC236}">
                  <a16:creationId xmlns:a16="http://schemas.microsoft.com/office/drawing/2014/main" id="{3347F445-D2CA-4FEB-AB8E-7A47AB57C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7" name="Freeform: Shape 16">
              <a:extLst>
                <a:ext uri="{FF2B5EF4-FFF2-40B4-BE49-F238E27FC236}">
                  <a16:creationId xmlns:a16="http://schemas.microsoft.com/office/drawing/2014/main" id="{12F1B3D8-301E-4A54-9284-EB14E9056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solidFill>
                  <a:schemeClr val="lt1"/>
                </a:solidFill>
              </a:endParaRPr>
            </a:p>
          </p:txBody>
        </p:sp>
        <p:sp>
          <p:nvSpPr>
            <p:cNvPr id="18" name="Freeform: Shape 17">
              <a:extLst>
                <a:ext uri="{FF2B5EF4-FFF2-40B4-BE49-F238E27FC236}">
                  <a16:creationId xmlns:a16="http://schemas.microsoft.com/office/drawing/2014/main" id="{CE4B9C67-860A-4569-AC84-3ADE433D1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9" name="Freeform: Shape 18">
              <a:extLst>
                <a:ext uri="{FF2B5EF4-FFF2-40B4-BE49-F238E27FC236}">
                  <a16:creationId xmlns:a16="http://schemas.microsoft.com/office/drawing/2014/main" id="{1175B763-A6E6-4AD1-9138-9B1164A7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grpSp>
      <p:sp>
        <p:nvSpPr>
          <p:cNvPr id="2" name="标题 1">
            <a:extLst>
              <a:ext uri="{FF2B5EF4-FFF2-40B4-BE49-F238E27FC236}">
                <a16:creationId xmlns:a16="http://schemas.microsoft.com/office/drawing/2014/main" id="{F27F2B32-5C6C-353D-2699-C7AB32BCE9E7}"/>
              </a:ext>
            </a:extLst>
          </p:cNvPr>
          <p:cNvSpPr>
            <a:spLocks noGrp="1"/>
          </p:cNvSpPr>
          <p:nvPr>
            <p:ph type="title"/>
          </p:nvPr>
        </p:nvSpPr>
        <p:spPr>
          <a:xfrm>
            <a:off x="596754" y="671953"/>
            <a:ext cx="10682668" cy="1027723"/>
          </a:xfrm>
        </p:spPr>
        <p:txBody>
          <a:bodyPr anchor="ctr">
            <a:normAutofit/>
          </a:body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Plan</a:t>
            </a:r>
            <a:endParaRPr lang="fr-FR" sz="3600" b="1" noProof="0" dirty="0">
              <a:solidFill>
                <a:schemeClr val="tx2"/>
              </a:solidFill>
              <a:latin typeface="Calibri" panose="020F0502020204030204" pitchFamily="34" charset="0"/>
              <a:cs typeface="Calibri" panose="020F0502020204030204" pitchFamily="34" charset="0"/>
            </a:endParaRPr>
          </a:p>
        </p:txBody>
      </p:sp>
      <p:sp>
        <p:nvSpPr>
          <p:cNvPr id="3" name="内容占位符 2">
            <a:extLst>
              <a:ext uri="{FF2B5EF4-FFF2-40B4-BE49-F238E27FC236}">
                <a16:creationId xmlns:a16="http://schemas.microsoft.com/office/drawing/2014/main" id="{F8CD3C2C-EB70-C0C7-FF4A-F41363786BDE}"/>
              </a:ext>
            </a:extLst>
          </p:cNvPr>
          <p:cNvSpPr>
            <a:spLocks noGrp="1"/>
          </p:cNvSpPr>
          <p:nvPr>
            <p:ph idx="1"/>
          </p:nvPr>
        </p:nvSpPr>
        <p:spPr>
          <a:xfrm>
            <a:off x="3055954" y="2367643"/>
            <a:ext cx="5709721" cy="3042557"/>
          </a:xfrm>
        </p:spPr>
        <p:txBody>
          <a:bodyPr anchor="t">
            <a:normAutofit/>
          </a:bodyPr>
          <a:lstStyle/>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Contexte et motivation</a:t>
            </a:r>
          </a:p>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Objectifs du stage</a:t>
            </a:r>
          </a:p>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Présentation des modèles</a:t>
            </a:r>
          </a:p>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Tests des modèles</a:t>
            </a:r>
          </a:p>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Validation du modèle</a:t>
            </a:r>
          </a:p>
          <a:p>
            <a:pPr fontAlgn="base"/>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Analyse des performances</a:t>
            </a:r>
          </a:p>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Conclusion</a:t>
            </a:r>
          </a:p>
          <a:p>
            <a:endParaRPr lang="fr-FR" sz="2000" noProof="0" dirty="0">
              <a:solidFill>
                <a:schemeClr val="tx2"/>
              </a:solidFill>
            </a:endParaRPr>
          </a:p>
        </p:txBody>
      </p:sp>
      <p:sp>
        <p:nvSpPr>
          <p:cNvPr id="9" name="页脚占位符 8">
            <a:extLst>
              <a:ext uri="{FF2B5EF4-FFF2-40B4-BE49-F238E27FC236}">
                <a16:creationId xmlns:a16="http://schemas.microsoft.com/office/drawing/2014/main" id="{3B9392B1-63E8-8F4E-4D03-F2FE53F69089}"/>
              </a:ext>
            </a:extLst>
          </p:cNvPr>
          <p:cNvSpPr>
            <a:spLocks noGrp="1"/>
          </p:cNvSpPr>
          <p:nvPr>
            <p:ph type="ftr" sz="quarter" idx="11"/>
          </p:nvPr>
        </p:nvSpPr>
        <p:spPr/>
        <p:txBody>
          <a:bodyPr/>
          <a:lstStyle/>
          <a:p>
            <a:r>
              <a:rPr lang="fr-FR" noProof="0" dirty="0" err="1"/>
              <a:t>Qinyan</a:t>
            </a:r>
            <a:r>
              <a:rPr lang="fr-FR" noProof="0" dirty="0"/>
              <a:t> YANG      Stage M2     Soutenance de stage — 2025</a:t>
            </a:r>
          </a:p>
        </p:txBody>
      </p:sp>
      <p:sp>
        <p:nvSpPr>
          <p:cNvPr id="11" name="灯片编号占位符 10">
            <a:extLst>
              <a:ext uri="{FF2B5EF4-FFF2-40B4-BE49-F238E27FC236}">
                <a16:creationId xmlns:a16="http://schemas.microsoft.com/office/drawing/2014/main" id="{75DC209A-19E8-E502-41AF-FFCB549A95DC}"/>
              </a:ext>
            </a:extLst>
          </p:cNvPr>
          <p:cNvSpPr>
            <a:spLocks noGrp="1"/>
          </p:cNvSpPr>
          <p:nvPr>
            <p:ph type="sldNum" sz="quarter" idx="12"/>
          </p:nvPr>
        </p:nvSpPr>
        <p:spPr/>
        <p:txBody>
          <a:bodyPr/>
          <a:lstStyle/>
          <a:p>
            <a:fld id="{02625CE3-65DB-4542-8AE7-F35D1171AFB5}" type="slidenum">
              <a:rPr lang="fr-FR" noProof="0" smtClean="0"/>
              <a:t>2</a:t>
            </a:fld>
            <a:endParaRPr lang="fr-FR" noProof="0" dirty="0"/>
          </a:p>
        </p:txBody>
      </p:sp>
    </p:spTree>
    <p:extLst>
      <p:ext uri="{BB962C8B-B14F-4D97-AF65-F5344CB8AC3E}">
        <p14:creationId xmlns:p14="http://schemas.microsoft.com/office/powerpoint/2010/main" val="2626128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pct60">
          <a:fgClr>
            <a:schemeClr val="accent3">
              <a:lumMod val="40000"/>
              <a:lumOff val="60000"/>
            </a:schemeClr>
          </a:fgClr>
          <a:bgClr>
            <a:schemeClr val="bg1"/>
          </a:bgClr>
        </a:patt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4">
            <a:extLst>
              <a:ext uri="{FF2B5EF4-FFF2-40B4-BE49-F238E27FC236}">
                <a16:creationId xmlns:a16="http://schemas.microsoft.com/office/drawing/2014/main" id="{6323DC37-F7A2-5B76-8DE8-F29295F3A8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9923" y="1316063"/>
            <a:ext cx="3977405" cy="4638374"/>
          </a:xfrm>
          <a:prstGeom prst="rect">
            <a:avLst/>
          </a:prstGeom>
        </p:spPr>
      </p:pic>
      <p:sp>
        <p:nvSpPr>
          <p:cNvPr id="13" name="标题 1">
            <a:extLst>
              <a:ext uri="{FF2B5EF4-FFF2-40B4-BE49-F238E27FC236}">
                <a16:creationId xmlns:a16="http://schemas.microsoft.com/office/drawing/2014/main" id="{78E2335D-A8D0-5521-AF16-1F56599BF76E}"/>
              </a:ext>
            </a:extLst>
          </p:cNvPr>
          <p:cNvSpPr>
            <a:spLocks noGrp="1"/>
          </p:cNvSpPr>
          <p:nvPr>
            <p:ph type="title"/>
          </p:nvPr>
        </p:nvSpPr>
        <p:spPr>
          <a:xfrm>
            <a:off x="804672" y="802955"/>
            <a:ext cx="4766330" cy="1454051"/>
          </a:xfrm>
        </p:spPr>
        <p:txBody>
          <a:bodyPr>
            <a:normAutofit/>
          </a:bodyPr>
          <a:lstStyle/>
          <a:p>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Contexte et motivation</a:t>
            </a:r>
            <a:endParaRPr lang="fr-FR" sz="3600" b="1" noProof="0" dirty="0">
              <a:solidFill>
                <a:schemeClr val="tx2"/>
              </a:solidFill>
              <a:latin typeface="Calibri" panose="020F0502020204030204" pitchFamily="34" charset="0"/>
              <a:cs typeface="Calibri" panose="020F0502020204030204" pitchFamily="34" charset="0"/>
            </a:endParaRPr>
          </a:p>
        </p:txBody>
      </p:sp>
      <p:sp>
        <p:nvSpPr>
          <p:cNvPr id="22" name="内容占位符 2">
            <a:extLst>
              <a:ext uri="{FF2B5EF4-FFF2-40B4-BE49-F238E27FC236}">
                <a16:creationId xmlns:a16="http://schemas.microsoft.com/office/drawing/2014/main" id="{89735B29-46E5-990D-698B-40AFD04EB89E}"/>
              </a:ext>
            </a:extLst>
          </p:cNvPr>
          <p:cNvSpPr>
            <a:spLocks noGrp="1"/>
          </p:cNvSpPr>
          <p:nvPr>
            <p:ph idx="1"/>
          </p:nvPr>
        </p:nvSpPr>
        <p:spPr>
          <a:xfrm>
            <a:off x="804672" y="2421683"/>
            <a:ext cx="4765949" cy="3353476"/>
          </a:xfrm>
        </p:spPr>
        <p:txBody>
          <a:bodyPr anchor="t">
            <a:normAutofit/>
          </a:bodyPr>
          <a:lstStyle/>
          <a:p>
            <a:r>
              <a:rPr lang="fr-FR" sz="1800" noProof="0">
                <a:solidFill>
                  <a:schemeClr val="tx2"/>
                </a:solidFill>
                <a:latin typeface="Calibri" panose="020F0502020204030204" pitchFamily="34" charset="0"/>
                <a:ea typeface="Calibri" panose="020F0502020204030204" pitchFamily="34" charset="0"/>
                <a:cs typeface="Calibri" panose="020F0502020204030204" pitchFamily="34" charset="0"/>
              </a:rPr>
              <a:t>Modéliser les écoulements saturés / non saturés est crucial pour la gestion des nappes phréatiques, notamment à l’échelle des versants.</a:t>
            </a:r>
          </a:p>
          <a:p>
            <a:r>
              <a:rPr lang="fr-FR" sz="1800" noProof="0">
                <a:solidFill>
                  <a:schemeClr val="tx2"/>
                </a:solidFill>
                <a:latin typeface="Calibri" panose="020F0502020204030204" pitchFamily="34" charset="0"/>
                <a:ea typeface="Calibri" panose="020F0502020204030204" pitchFamily="34" charset="0"/>
                <a:cs typeface="Calibri" panose="020F0502020204030204" pitchFamily="34" charset="0"/>
              </a:rPr>
              <a:t>Problème : le modèle de Richards est coûteux et difficile à résoudre numériquement.</a:t>
            </a:r>
          </a:p>
          <a:p>
            <a:r>
              <a:rPr lang="fr-FR" sz="1800" noProof="0">
                <a:solidFill>
                  <a:schemeClr val="tx2"/>
                </a:solidFill>
                <a:latin typeface="Calibri" panose="020F0502020204030204" pitchFamily="34" charset="0"/>
                <a:ea typeface="Calibri" panose="020F0502020204030204" pitchFamily="34" charset="0"/>
                <a:cs typeface="Calibri" panose="020F0502020204030204" pitchFamily="34" charset="0"/>
              </a:rPr>
              <a:t>Objectif : évaluer une approche alternative plus efficace — le modèle de Boussinesq-Richards (BR).</a:t>
            </a:r>
            <a:endParaRPr lang="fr-FR" sz="1800" noProof="0">
              <a:solidFill>
                <a:schemeClr val="tx2"/>
              </a:solidFill>
              <a:latin typeface="Calibri" panose="020F0502020204030204" pitchFamily="34" charset="0"/>
              <a:cs typeface="Calibri" panose="020F0502020204030204" pitchFamily="34" charset="0"/>
            </a:endParaRPr>
          </a:p>
        </p:txBody>
      </p:sp>
      <p:grpSp>
        <p:nvGrpSpPr>
          <p:cNvPr id="42" name="Group 41">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43" name="Freeform: Shape 42">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页脚占位符 8">
            <a:extLst>
              <a:ext uri="{FF2B5EF4-FFF2-40B4-BE49-F238E27FC236}">
                <a16:creationId xmlns:a16="http://schemas.microsoft.com/office/drawing/2014/main" id="{7507C320-9051-6B98-E283-64E657CCB1FD}"/>
              </a:ext>
            </a:extLst>
          </p:cNvPr>
          <p:cNvSpPr>
            <a:spLocks noGrp="1"/>
          </p:cNvSpPr>
          <p:nvPr>
            <p:ph type="ftr" sz="quarter" idx="11"/>
          </p:nvPr>
        </p:nvSpPr>
        <p:spPr>
          <a:xfrm>
            <a:off x="4038600" y="6356350"/>
            <a:ext cx="4114800" cy="365125"/>
          </a:xfrm>
        </p:spPr>
        <p:txBody>
          <a:bodyPr>
            <a:normAutofit/>
          </a:bodyPr>
          <a:lstStyle/>
          <a:p>
            <a:pPr>
              <a:spcAft>
                <a:spcPts val="600"/>
              </a:spcAft>
            </a:pPr>
            <a:r>
              <a:rPr lang="fr-FR" noProof="0" dirty="0" err="1"/>
              <a:t>Qinyan</a:t>
            </a:r>
            <a:r>
              <a:rPr lang="fr-FR" noProof="0" dirty="0"/>
              <a:t> YANG      Stage M2     Soutenance de stage — 2025</a:t>
            </a:r>
            <a:endParaRPr lang="fr-FR" noProof="0"/>
          </a:p>
        </p:txBody>
      </p:sp>
      <p:sp>
        <p:nvSpPr>
          <p:cNvPr id="11" name="灯片编号占位符 10">
            <a:extLst>
              <a:ext uri="{FF2B5EF4-FFF2-40B4-BE49-F238E27FC236}">
                <a16:creationId xmlns:a16="http://schemas.microsoft.com/office/drawing/2014/main" id="{62B20F88-18B6-880A-7A8B-9D1A3D9C8A9D}"/>
              </a:ext>
            </a:extLst>
          </p:cNvPr>
          <p:cNvSpPr>
            <a:spLocks noGrp="1"/>
          </p:cNvSpPr>
          <p:nvPr>
            <p:ph type="sldNum" sz="quarter" idx="12"/>
          </p:nvPr>
        </p:nvSpPr>
        <p:spPr>
          <a:xfrm>
            <a:off x="8610600" y="6356350"/>
            <a:ext cx="2743200" cy="365125"/>
          </a:xfrm>
        </p:spPr>
        <p:txBody>
          <a:bodyPr>
            <a:normAutofit/>
          </a:bodyPr>
          <a:lstStyle/>
          <a:p>
            <a:pPr>
              <a:spcAft>
                <a:spcPts val="600"/>
              </a:spcAft>
            </a:pPr>
            <a:fld id="{02625CE3-65DB-4542-8AE7-F35D1171AFB5}" type="slidenum">
              <a:rPr lang="fr-FR" noProof="0" smtClean="0"/>
              <a:pPr>
                <a:spcAft>
                  <a:spcPts val="600"/>
                </a:spcAft>
              </a:pPr>
              <a:t>3</a:t>
            </a:fld>
            <a:endParaRPr lang="fr-FR" noProof="0"/>
          </a:p>
        </p:txBody>
      </p:sp>
    </p:spTree>
    <p:extLst>
      <p:ext uri="{BB962C8B-B14F-4D97-AF65-F5344CB8AC3E}">
        <p14:creationId xmlns:p14="http://schemas.microsoft.com/office/powerpoint/2010/main" val="3727784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pct20">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
        <p:nvSpPr>
          <p:cNvPr id="2" name="标题 1">
            <a:extLst>
              <a:ext uri="{FF2B5EF4-FFF2-40B4-BE49-F238E27FC236}">
                <a16:creationId xmlns:a16="http://schemas.microsoft.com/office/drawing/2014/main" id="{8A9D9DCE-4CFC-4087-E70B-56885FB88ED9}"/>
              </a:ext>
            </a:extLst>
          </p:cNvPr>
          <p:cNvSpPr>
            <a:spLocks noGrp="1"/>
          </p:cNvSpPr>
          <p:nvPr>
            <p:ph type="title"/>
          </p:nvPr>
        </p:nvSpPr>
        <p:spPr>
          <a:xfrm>
            <a:off x="3900252" y="947862"/>
            <a:ext cx="4459447" cy="1102180"/>
          </a:xfrm>
        </p:spPr>
        <p:txBody>
          <a:bodyPr>
            <a:normAutofit/>
          </a:body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Objectifs du stage</a:t>
            </a:r>
            <a:endParaRPr lang="fr-FR" sz="3600" b="1" noProof="0" dirty="0">
              <a:solidFill>
                <a:schemeClr val="tx2"/>
              </a:solidFill>
              <a:latin typeface="Calibri" panose="020F0502020204030204" pitchFamily="34" charset="0"/>
              <a:cs typeface="Calibri" panose="020F0502020204030204" pitchFamily="34" charset="0"/>
            </a:endParaRPr>
          </a:p>
        </p:txBody>
      </p:sp>
      <p:sp>
        <p:nvSpPr>
          <p:cNvPr id="3" name="内容占位符 2">
            <a:extLst>
              <a:ext uri="{FF2B5EF4-FFF2-40B4-BE49-F238E27FC236}">
                <a16:creationId xmlns:a16="http://schemas.microsoft.com/office/drawing/2014/main" id="{BD67E642-5748-7BDC-CE8D-54FDEF5116CF}"/>
              </a:ext>
            </a:extLst>
          </p:cNvPr>
          <p:cNvSpPr>
            <a:spLocks noGrp="1"/>
          </p:cNvSpPr>
          <p:nvPr>
            <p:ph idx="1"/>
          </p:nvPr>
        </p:nvSpPr>
        <p:spPr>
          <a:xfrm>
            <a:off x="2936340" y="2722280"/>
            <a:ext cx="6387273" cy="2711613"/>
          </a:xfrm>
        </p:spPr>
        <p:txBody>
          <a:bodyPr anchor="t">
            <a:normAutofit/>
          </a:bodyPr>
          <a:lstStyle/>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Tester et valider le modèle Boussinesq–Richards (BR) par rapport au modèle de Richards (R).</a:t>
            </a:r>
          </a:p>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Évaluer la robustesse numérique, la cohérence physique et l’efficacité computationnelle.</a:t>
            </a:r>
          </a:p>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Développer des scripts de comparaison des performances (MPI, temps d’exécution).</a:t>
            </a:r>
          </a:p>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Contribuer à la rédaction scientifique (figures, sections méthodologiques).</a:t>
            </a:r>
            <a:endParaRPr lang="fr-FR" sz="2000" noProof="0" dirty="0">
              <a:solidFill>
                <a:schemeClr val="tx2"/>
              </a:solidFill>
              <a:latin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800" noProof="0" dirty="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
        <p:nvSpPr>
          <p:cNvPr id="9" name="页脚占位符 8">
            <a:extLst>
              <a:ext uri="{FF2B5EF4-FFF2-40B4-BE49-F238E27FC236}">
                <a16:creationId xmlns:a16="http://schemas.microsoft.com/office/drawing/2014/main" id="{E45D9D3F-AFEE-6967-81B9-B0CA12A0AA0F}"/>
              </a:ext>
            </a:extLst>
          </p:cNvPr>
          <p:cNvSpPr>
            <a:spLocks noGrp="1"/>
          </p:cNvSpPr>
          <p:nvPr>
            <p:ph type="ftr" sz="quarter" idx="11"/>
          </p:nvPr>
        </p:nvSpPr>
        <p:spPr/>
        <p:txBody>
          <a:bodyPr/>
          <a:lstStyle/>
          <a:p>
            <a:r>
              <a:rPr lang="fr-FR" noProof="0" dirty="0" err="1"/>
              <a:t>Qinyan</a:t>
            </a:r>
            <a:r>
              <a:rPr lang="fr-FR" noProof="0" dirty="0"/>
              <a:t> YANG      Stage M2     Soutenance de stage — 2025</a:t>
            </a:r>
          </a:p>
        </p:txBody>
      </p:sp>
      <p:sp>
        <p:nvSpPr>
          <p:cNvPr id="11" name="灯片编号占位符 10">
            <a:extLst>
              <a:ext uri="{FF2B5EF4-FFF2-40B4-BE49-F238E27FC236}">
                <a16:creationId xmlns:a16="http://schemas.microsoft.com/office/drawing/2014/main" id="{6BAA2688-813D-6E23-F6AD-23B7524C7CB6}"/>
              </a:ext>
            </a:extLst>
          </p:cNvPr>
          <p:cNvSpPr>
            <a:spLocks noGrp="1"/>
          </p:cNvSpPr>
          <p:nvPr>
            <p:ph type="sldNum" sz="quarter" idx="12"/>
          </p:nvPr>
        </p:nvSpPr>
        <p:spPr/>
        <p:txBody>
          <a:bodyPr/>
          <a:lstStyle/>
          <a:p>
            <a:fld id="{02625CE3-65DB-4542-8AE7-F35D1171AFB5}" type="slidenum">
              <a:rPr lang="fr-FR" noProof="0" smtClean="0"/>
              <a:t>4</a:t>
            </a:fld>
            <a:endParaRPr lang="fr-FR" noProof="0" dirty="0"/>
          </a:p>
        </p:txBody>
      </p:sp>
    </p:spTree>
    <p:extLst>
      <p:ext uri="{BB962C8B-B14F-4D97-AF65-F5344CB8AC3E}">
        <p14:creationId xmlns:p14="http://schemas.microsoft.com/office/powerpoint/2010/main" val="2250882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1" name="Rectangle 30">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noProof="0" dirty="0"/>
          </a:p>
        </p:txBody>
      </p:sp>
      <p:pic>
        <p:nvPicPr>
          <p:cNvPr id="19" name="图片 18">
            <a:extLst>
              <a:ext uri="{FF2B5EF4-FFF2-40B4-BE49-F238E27FC236}">
                <a16:creationId xmlns:a16="http://schemas.microsoft.com/office/drawing/2014/main" id="{CCD0C908-A65B-43CE-5B02-C4ED5E578C5A}"/>
              </a:ext>
            </a:extLst>
          </p:cNvPr>
          <p:cNvPicPr>
            <a:picLocks noChangeAspect="1"/>
          </p:cNvPicPr>
          <p:nvPr/>
        </p:nvPicPr>
        <p:blipFill>
          <a:blip r:embed="rId3"/>
          <a:stretch>
            <a:fillRect/>
          </a:stretch>
        </p:blipFill>
        <p:spPr>
          <a:xfrm>
            <a:off x="1089149" y="3871592"/>
            <a:ext cx="3498277" cy="541400"/>
          </a:xfrm>
          <a:prstGeom prst="rect">
            <a:avLst/>
          </a:prstGeom>
        </p:spPr>
      </p:pic>
      <p:pic>
        <p:nvPicPr>
          <p:cNvPr id="13" name="图片 12">
            <a:extLst>
              <a:ext uri="{FF2B5EF4-FFF2-40B4-BE49-F238E27FC236}">
                <a16:creationId xmlns:a16="http://schemas.microsoft.com/office/drawing/2014/main" id="{78F46372-0544-3042-C043-C10BAA291B6C}"/>
              </a:ext>
            </a:extLst>
          </p:cNvPr>
          <p:cNvPicPr>
            <a:picLocks noChangeAspect="1"/>
          </p:cNvPicPr>
          <p:nvPr/>
        </p:nvPicPr>
        <p:blipFill>
          <a:blip r:embed="rId4"/>
          <a:stretch>
            <a:fillRect/>
          </a:stretch>
        </p:blipFill>
        <p:spPr>
          <a:xfrm>
            <a:off x="1146880" y="2695261"/>
            <a:ext cx="3382813" cy="535099"/>
          </a:xfrm>
          <a:prstGeom prst="rect">
            <a:avLst/>
          </a:prstGeom>
        </p:spPr>
      </p:pic>
      <p:grpSp>
        <p:nvGrpSpPr>
          <p:cNvPr id="33" name="Group 32">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34" name="Freeform: Shape 33">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35" name="Freeform: Shape 34">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36" name="Freeform: Shape 35">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37" name="Freeform: Shape 36">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grpSp>
      <p:sp>
        <p:nvSpPr>
          <p:cNvPr id="4" name="页脚占位符 3">
            <a:extLst>
              <a:ext uri="{FF2B5EF4-FFF2-40B4-BE49-F238E27FC236}">
                <a16:creationId xmlns:a16="http://schemas.microsoft.com/office/drawing/2014/main" id="{015C9D70-2C5E-299D-5AAE-2C1425B73F4E}"/>
              </a:ext>
            </a:extLst>
          </p:cNvPr>
          <p:cNvSpPr>
            <a:spLocks noGrp="1"/>
          </p:cNvSpPr>
          <p:nvPr>
            <p:ph type="ftr" sz="quarter" idx="11"/>
          </p:nvPr>
        </p:nvSpPr>
        <p:spPr>
          <a:xfrm>
            <a:off x="4038600" y="6356350"/>
            <a:ext cx="4114800" cy="365125"/>
          </a:xfrm>
        </p:spPr>
        <p:txBody>
          <a:bodyPr>
            <a:normAutofit/>
          </a:bodyPr>
          <a:lstStyle/>
          <a:p>
            <a:pPr>
              <a:spcAft>
                <a:spcPts val="600"/>
              </a:spcAft>
            </a:pPr>
            <a:r>
              <a:rPr lang="fr-FR" noProof="0" dirty="0" err="1"/>
              <a:t>Qinyan</a:t>
            </a:r>
            <a:r>
              <a:rPr lang="fr-FR" noProof="0" dirty="0"/>
              <a:t> YANG      Stage M2     Soutenance de stage — 2025</a:t>
            </a:r>
          </a:p>
        </p:txBody>
      </p:sp>
      <p:sp>
        <p:nvSpPr>
          <p:cNvPr id="5" name="灯片编号占位符 4">
            <a:extLst>
              <a:ext uri="{FF2B5EF4-FFF2-40B4-BE49-F238E27FC236}">
                <a16:creationId xmlns:a16="http://schemas.microsoft.com/office/drawing/2014/main" id="{D49D2242-A161-1089-C1C6-C985621E2369}"/>
              </a:ext>
            </a:extLst>
          </p:cNvPr>
          <p:cNvSpPr>
            <a:spLocks noGrp="1"/>
          </p:cNvSpPr>
          <p:nvPr>
            <p:ph type="sldNum" sz="quarter" idx="12"/>
          </p:nvPr>
        </p:nvSpPr>
        <p:spPr>
          <a:xfrm>
            <a:off x="8610600" y="6356350"/>
            <a:ext cx="2743200" cy="365125"/>
          </a:xfrm>
        </p:spPr>
        <p:txBody>
          <a:bodyPr>
            <a:normAutofit/>
          </a:bodyPr>
          <a:lstStyle/>
          <a:p>
            <a:pPr>
              <a:spcAft>
                <a:spcPts val="600"/>
              </a:spcAft>
            </a:pPr>
            <a:fld id="{02625CE3-65DB-4542-8AE7-F35D1171AFB5}" type="slidenum">
              <a:rPr lang="fr-FR" noProof="0" smtClean="0"/>
              <a:pPr>
                <a:spcAft>
                  <a:spcPts val="600"/>
                </a:spcAft>
              </a:pPr>
              <a:t>5</a:t>
            </a:fld>
            <a:endParaRPr lang="fr-FR" noProof="0" dirty="0"/>
          </a:p>
        </p:txBody>
      </p:sp>
      <p:pic>
        <p:nvPicPr>
          <p:cNvPr id="8" name="图片 7">
            <a:extLst>
              <a:ext uri="{FF2B5EF4-FFF2-40B4-BE49-F238E27FC236}">
                <a16:creationId xmlns:a16="http://schemas.microsoft.com/office/drawing/2014/main" id="{F25E86F8-0C9F-D2D3-B438-7A5E47C57525}"/>
              </a:ext>
            </a:extLst>
          </p:cNvPr>
          <p:cNvPicPr>
            <a:picLocks noChangeAspect="1"/>
          </p:cNvPicPr>
          <p:nvPr/>
        </p:nvPicPr>
        <p:blipFill>
          <a:blip r:embed="rId5"/>
          <a:stretch>
            <a:fillRect/>
          </a:stretch>
        </p:blipFill>
        <p:spPr>
          <a:xfrm>
            <a:off x="6209242" y="4805122"/>
            <a:ext cx="3848252" cy="625921"/>
          </a:xfrm>
          <a:prstGeom prst="rect">
            <a:avLst/>
          </a:prstGeom>
        </p:spPr>
      </p:pic>
      <p:pic>
        <p:nvPicPr>
          <p:cNvPr id="9" name="图片 8">
            <a:extLst>
              <a:ext uri="{FF2B5EF4-FFF2-40B4-BE49-F238E27FC236}">
                <a16:creationId xmlns:a16="http://schemas.microsoft.com/office/drawing/2014/main" id="{05186EF9-F7B5-A6AB-A9E7-D524E3BCFB7B}"/>
              </a:ext>
            </a:extLst>
          </p:cNvPr>
          <p:cNvPicPr>
            <a:picLocks noChangeAspect="1"/>
          </p:cNvPicPr>
          <p:nvPr/>
        </p:nvPicPr>
        <p:blipFill>
          <a:blip r:embed="rId6"/>
          <a:stretch>
            <a:fillRect/>
          </a:stretch>
        </p:blipFill>
        <p:spPr>
          <a:xfrm>
            <a:off x="6209242" y="3762315"/>
            <a:ext cx="3146124" cy="646464"/>
          </a:xfrm>
          <a:prstGeom prst="rect">
            <a:avLst/>
          </a:prstGeom>
        </p:spPr>
      </p:pic>
      <p:pic>
        <p:nvPicPr>
          <p:cNvPr id="11" name="图片 10">
            <a:extLst>
              <a:ext uri="{FF2B5EF4-FFF2-40B4-BE49-F238E27FC236}">
                <a16:creationId xmlns:a16="http://schemas.microsoft.com/office/drawing/2014/main" id="{7D0EA8C6-4C66-D859-DBFA-4E4E891E9550}"/>
              </a:ext>
            </a:extLst>
          </p:cNvPr>
          <p:cNvPicPr>
            <a:picLocks noChangeAspect="1"/>
          </p:cNvPicPr>
          <p:nvPr/>
        </p:nvPicPr>
        <p:blipFill>
          <a:blip r:embed="rId7"/>
          <a:stretch>
            <a:fillRect/>
          </a:stretch>
        </p:blipFill>
        <p:spPr>
          <a:xfrm>
            <a:off x="6209242" y="2744448"/>
            <a:ext cx="3513516" cy="485912"/>
          </a:xfrm>
          <a:prstGeom prst="rect">
            <a:avLst/>
          </a:prstGeom>
        </p:spPr>
      </p:pic>
      <p:sp>
        <p:nvSpPr>
          <p:cNvPr id="25" name="标题 1">
            <a:extLst>
              <a:ext uri="{FF2B5EF4-FFF2-40B4-BE49-F238E27FC236}">
                <a16:creationId xmlns:a16="http://schemas.microsoft.com/office/drawing/2014/main" id="{05A893F6-07BF-AF3B-7597-E51DAB5BCF2E}"/>
              </a:ext>
            </a:extLst>
          </p:cNvPr>
          <p:cNvSpPr txBox="1">
            <a:spLocks/>
          </p:cNvSpPr>
          <p:nvPr/>
        </p:nvSpPr>
        <p:spPr>
          <a:xfrm>
            <a:off x="3354381" y="677845"/>
            <a:ext cx="5481884" cy="91440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Présentation des modèles</a:t>
            </a:r>
            <a:endParaRPr lang="fr-FR" sz="3600" b="1" noProof="0" dirty="0">
              <a:solidFill>
                <a:schemeClr val="tx2"/>
              </a:solidFill>
              <a:latin typeface="Calibri" panose="020F0502020204030204" pitchFamily="34" charset="0"/>
              <a:cs typeface="Calibri" panose="020F0502020204030204" pitchFamily="34" charset="0"/>
            </a:endParaRPr>
          </a:p>
        </p:txBody>
      </p:sp>
      <p:sp>
        <p:nvSpPr>
          <p:cNvPr id="26" name="内容占位符 2">
            <a:extLst>
              <a:ext uri="{FF2B5EF4-FFF2-40B4-BE49-F238E27FC236}">
                <a16:creationId xmlns:a16="http://schemas.microsoft.com/office/drawing/2014/main" id="{2C3B91EB-754F-F488-E912-0C3432753A59}"/>
              </a:ext>
            </a:extLst>
          </p:cNvPr>
          <p:cNvSpPr txBox="1">
            <a:spLocks/>
          </p:cNvSpPr>
          <p:nvPr/>
        </p:nvSpPr>
        <p:spPr>
          <a:xfrm>
            <a:off x="499520" y="2270090"/>
            <a:ext cx="5709721" cy="42517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Équation de Richards :</a:t>
            </a:r>
            <a:endParaRPr lang="fr-FR" sz="2000" noProof="0" dirty="0">
              <a:solidFill>
                <a:schemeClr val="tx2"/>
              </a:solidFill>
              <a:latin typeface="Calibri" panose="020F0502020204030204" pitchFamily="34" charset="0"/>
              <a:cs typeface="Calibri" panose="020F0502020204030204" pitchFamily="34" charset="0"/>
            </a:endParaRPr>
          </a:p>
        </p:txBody>
      </p:sp>
      <p:sp>
        <p:nvSpPr>
          <p:cNvPr id="27" name="内容占位符 2">
            <a:extLst>
              <a:ext uri="{FF2B5EF4-FFF2-40B4-BE49-F238E27FC236}">
                <a16:creationId xmlns:a16="http://schemas.microsoft.com/office/drawing/2014/main" id="{B2C00C3F-7919-9B25-8BD3-1EF7291F08C8}"/>
              </a:ext>
            </a:extLst>
          </p:cNvPr>
          <p:cNvSpPr txBox="1">
            <a:spLocks/>
          </p:cNvSpPr>
          <p:nvPr/>
        </p:nvSpPr>
        <p:spPr>
          <a:xfrm>
            <a:off x="499521" y="3444840"/>
            <a:ext cx="4429472" cy="42517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Équation de Boussinesq :</a:t>
            </a:r>
            <a:endParaRPr lang="fr-FR" sz="2000" noProof="0" dirty="0">
              <a:solidFill>
                <a:schemeClr val="tx2"/>
              </a:solidFill>
              <a:latin typeface="Calibri" panose="020F0502020204030204" pitchFamily="34" charset="0"/>
              <a:cs typeface="Calibri" panose="020F0502020204030204" pitchFamily="34" charset="0"/>
            </a:endParaRPr>
          </a:p>
          <a:p>
            <a:endParaRPr lang="fr-FR" sz="2000" b="1" noProof="0" dirty="0">
              <a:solidFill>
                <a:schemeClr val="tx2"/>
              </a:solidFill>
            </a:endParaRPr>
          </a:p>
        </p:txBody>
      </p:sp>
      <p:sp>
        <p:nvSpPr>
          <p:cNvPr id="28" name="内容占位符 2">
            <a:extLst>
              <a:ext uri="{FF2B5EF4-FFF2-40B4-BE49-F238E27FC236}">
                <a16:creationId xmlns:a16="http://schemas.microsoft.com/office/drawing/2014/main" id="{32E30B1C-E203-80B6-DCED-40105332AFD3}"/>
              </a:ext>
            </a:extLst>
          </p:cNvPr>
          <p:cNvSpPr txBox="1">
            <a:spLocks/>
          </p:cNvSpPr>
          <p:nvPr/>
        </p:nvSpPr>
        <p:spPr>
          <a:xfrm>
            <a:off x="5444887" y="2270090"/>
            <a:ext cx="4513446" cy="3431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Équation de Richards modifiée :</a:t>
            </a:r>
            <a:endParaRPr lang="fr-FR" sz="2000" noProof="0" dirty="0">
              <a:solidFill>
                <a:schemeClr val="tx2"/>
              </a:solidFill>
              <a:latin typeface="Calibri" panose="020F0502020204030204" pitchFamily="34" charset="0"/>
              <a:cs typeface="Calibri" panose="020F0502020204030204" pitchFamily="34" charset="0"/>
            </a:endParaRPr>
          </a:p>
        </p:txBody>
      </p:sp>
      <p:sp>
        <p:nvSpPr>
          <p:cNvPr id="30" name="内容占位符 2">
            <a:extLst>
              <a:ext uri="{FF2B5EF4-FFF2-40B4-BE49-F238E27FC236}">
                <a16:creationId xmlns:a16="http://schemas.microsoft.com/office/drawing/2014/main" id="{45202BE8-5A46-FF64-6428-E4F8D1C35E12}"/>
              </a:ext>
            </a:extLst>
          </p:cNvPr>
          <p:cNvSpPr txBox="1">
            <a:spLocks/>
          </p:cNvSpPr>
          <p:nvPr/>
        </p:nvSpPr>
        <p:spPr>
          <a:xfrm>
            <a:off x="5444887" y="3281520"/>
            <a:ext cx="4513446" cy="3431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Flux d'échange :</a:t>
            </a:r>
            <a:endParaRPr lang="fr-FR" sz="2000" noProof="0" dirty="0">
              <a:solidFill>
                <a:schemeClr val="tx2"/>
              </a:solidFill>
              <a:latin typeface="Calibri" panose="020F0502020204030204" pitchFamily="34" charset="0"/>
              <a:cs typeface="Calibri" panose="020F0502020204030204" pitchFamily="34" charset="0"/>
            </a:endParaRPr>
          </a:p>
        </p:txBody>
      </p:sp>
      <p:sp>
        <p:nvSpPr>
          <p:cNvPr id="32" name="内容占位符 2">
            <a:extLst>
              <a:ext uri="{FF2B5EF4-FFF2-40B4-BE49-F238E27FC236}">
                <a16:creationId xmlns:a16="http://schemas.microsoft.com/office/drawing/2014/main" id="{708F7F37-A8D3-8447-8925-8FE01348FF11}"/>
              </a:ext>
            </a:extLst>
          </p:cNvPr>
          <p:cNvSpPr txBox="1">
            <a:spLocks/>
          </p:cNvSpPr>
          <p:nvPr/>
        </p:nvSpPr>
        <p:spPr>
          <a:xfrm>
            <a:off x="5444886" y="4417313"/>
            <a:ext cx="5314860" cy="3431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Modèle BR (Équation  d'équilibre de la nappe) :</a:t>
            </a:r>
            <a:endParaRPr lang="fr-FR" sz="2000" noProof="0" dirty="0">
              <a:solidFill>
                <a:schemeClr val="tx2"/>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A282B94-93C3-053A-6196-0BA42553E17D}"/>
                  </a:ext>
                </a:extLst>
              </p:cNvPr>
              <p:cNvSpPr txBox="1"/>
              <p:nvPr/>
            </p:nvSpPr>
            <p:spPr>
              <a:xfrm>
                <a:off x="180856" y="4925189"/>
                <a:ext cx="5314860" cy="1169551"/>
              </a:xfrm>
              <a:prstGeom prst="rect">
                <a:avLst/>
              </a:prstGeom>
              <a:noFill/>
            </p:spPr>
            <p:txBody>
              <a:bodyPr wrap="square" rtlCol="0">
                <a:spAutoFit/>
              </a:bodyPr>
              <a:lstStyle/>
              <a:p>
                <a14:m>
                  <m:oMath xmlns:m="http://schemas.openxmlformats.org/officeDocument/2006/math">
                    <m:r>
                      <m:rPr>
                        <m:sty m:val="p"/>
                      </m:rPr>
                      <a:rPr lang="fr-FR" sz="1400" i="1" noProof="0" smtClean="0">
                        <a:latin typeface="Cambria Math" panose="02040503050406030204" pitchFamily="18" charset="0"/>
                      </a:rPr>
                      <m:t>s</m:t>
                    </m:r>
                    <m:r>
                      <a:rPr lang="fr-FR" sz="1400" b="0" i="0" noProof="0" smtClean="0">
                        <a:latin typeface="Cambria Math" panose="02040503050406030204" pitchFamily="18" charset="0"/>
                      </a:rPr>
                      <m:t>:</m:t>
                    </m:r>
                  </m:oMath>
                </a14:m>
                <a:r>
                  <a:rPr lang="fr-FR" sz="1400" noProof="0" dirty="0"/>
                  <a:t> saturation relative	        </a:t>
                </a:r>
                <a14:m>
                  <m:oMath xmlns:m="http://schemas.openxmlformats.org/officeDocument/2006/math">
                    <m:r>
                      <a:rPr lang="fr-FR" sz="1400" i="1" noProof="0">
                        <a:latin typeface="Cambria Math" panose="02040503050406030204" pitchFamily="18" charset="0"/>
                      </a:rPr>
                      <m:t>𝑓</m:t>
                    </m:r>
                    <m:r>
                      <a:rPr lang="fr-FR" sz="1400" i="1" noProof="0">
                        <a:latin typeface="Cambria Math" panose="02040503050406030204" pitchFamily="18" charset="0"/>
                      </a:rPr>
                      <m:t>(</m:t>
                    </m:r>
                    <m:r>
                      <a:rPr lang="fr-FR" sz="1400" i="1" noProof="0">
                        <a:latin typeface="Cambria Math" panose="02040503050406030204" pitchFamily="18" charset="0"/>
                      </a:rPr>
                      <m:t>𝑝</m:t>
                    </m:r>
                    <m:r>
                      <a:rPr lang="fr-FR" sz="1400" i="1" noProof="0">
                        <a:latin typeface="Cambria Math" panose="02040503050406030204" pitchFamily="18" charset="0"/>
                      </a:rPr>
                      <m:t>, </m:t>
                    </m:r>
                    <m:r>
                      <a:rPr lang="fr-FR" sz="1400" i="1" noProof="0">
                        <a:latin typeface="Cambria Math" panose="02040503050406030204" pitchFamily="18" charset="0"/>
                      </a:rPr>
                      <m:t>𝑧</m:t>
                    </m:r>
                    <m:r>
                      <a:rPr lang="fr-FR" sz="1400" i="1" noProof="0">
                        <a:latin typeface="Cambria Math" panose="02040503050406030204" pitchFamily="18" charset="0"/>
                      </a:rPr>
                      <m:t>)</m:t>
                    </m:r>
                  </m:oMath>
                </a14:m>
                <a:r>
                  <a:rPr lang="fr-FR" sz="1400" noProof="0" dirty="0"/>
                  <a:t> et </a:t>
                </a:r>
                <a14:m>
                  <m:oMath xmlns:m="http://schemas.openxmlformats.org/officeDocument/2006/math">
                    <m:r>
                      <a:rPr lang="fr-FR" sz="1400" i="1" noProof="0">
                        <a:latin typeface="Cambria Math" panose="02040503050406030204" pitchFamily="18" charset="0"/>
                      </a:rPr>
                      <m:t>𝑟</m:t>
                    </m:r>
                  </m:oMath>
                </a14:m>
                <a:r>
                  <a:rPr lang="fr-FR" sz="1400" noProof="0" dirty="0"/>
                  <a:t> : terme de recharge</a:t>
                </a:r>
              </a:p>
              <a:p>
                <a14:m>
                  <m:oMath xmlns:m="http://schemas.openxmlformats.org/officeDocument/2006/math">
                    <m:r>
                      <a:rPr lang="fr-FR" sz="1400" i="1" noProof="0">
                        <a:latin typeface="Cambria Math" panose="02040503050406030204" pitchFamily="18" charset="0"/>
                      </a:rPr>
                      <m:t>𝑝</m:t>
                    </m:r>
                    <m:r>
                      <a:rPr lang="fr-FR" sz="1400" b="0" i="1" noProof="0" smtClean="0">
                        <a:latin typeface="Cambria Math" panose="02040503050406030204" pitchFamily="18" charset="0"/>
                      </a:rPr>
                      <m:t>:</m:t>
                    </m:r>
                  </m:oMath>
                </a14:m>
                <a:r>
                  <a:rPr lang="fr-FR" sz="1400" noProof="0" dirty="0"/>
                  <a:t> pression 	     	        </a:t>
                </a:r>
                <a14:m>
                  <m:oMath xmlns:m="http://schemas.openxmlformats.org/officeDocument/2006/math">
                    <m:r>
                      <a:rPr lang="fr-FR" sz="1400" i="1" noProof="0">
                        <a:latin typeface="Cambria Math" panose="02040503050406030204" pitchFamily="18" charset="0"/>
                      </a:rPr>
                      <m:t>𝑘</m:t>
                    </m:r>
                    <m:d>
                      <m:dPr>
                        <m:ctrlPr>
                          <a:rPr lang="fr-FR" sz="1400" i="1" noProof="0">
                            <a:latin typeface="Cambria Math" panose="02040503050406030204" pitchFamily="18" charset="0"/>
                          </a:rPr>
                        </m:ctrlPr>
                      </m:dPr>
                      <m:e>
                        <m:r>
                          <m:rPr>
                            <m:sty m:val="p"/>
                          </m:rPr>
                          <a:rPr lang="fr-FR" sz="1400" i="1" noProof="0" smtClean="0">
                            <a:latin typeface="Cambria Math" panose="02040503050406030204" pitchFamily="18" charset="0"/>
                          </a:rPr>
                          <m:t>s</m:t>
                        </m:r>
                      </m:e>
                    </m:d>
                    <m:r>
                      <a:rPr lang="fr-FR" sz="1400" i="1" noProof="0">
                        <a:latin typeface="Cambria Math" panose="02040503050406030204" pitchFamily="18" charset="0"/>
                      </a:rPr>
                      <m:t>:</m:t>
                    </m:r>
                  </m:oMath>
                </a14:m>
                <a:r>
                  <a:rPr lang="fr-FR" sz="1400" noProof="0" dirty="0"/>
                  <a:t> conductivité hydraulique relatif</a:t>
                </a:r>
              </a:p>
              <a:p>
                <a14:m>
                  <m:oMath xmlns:m="http://schemas.openxmlformats.org/officeDocument/2006/math">
                    <m:r>
                      <a:rPr lang="fr-FR" sz="1400" b="0" i="1" noProof="0" smtClean="0">
                        <a:latin typeface="Cambria Math" panose="02040503050406030204" pitchFamily="18" charset="0"/>
                      </a:rPr>
                      <m:t>𝑧</m:t>
                    </m:r>
                    <m:r>
                      <a:rPr lang="fr-FR" sz="1400" b="0" i="1" noProof="0" smtClean="0">
                        <a:latin typeface="Cambria Math" panose="02040503050406030204" pitchFamily="18" charset="0"/>
                      </a:rPr>
                      <m:t>:</m:t>
                    </m:r>
                  </m:oMath>
                </a14:m>
                <a:r>
                  <a:rPr lang="fr-FR" sz="1400" noProof="0" dirty="0"/>
                  <a:t> coordonnée verticale	        </a:t>
                </a:r>
                <a14:m>
                  <m:oMath xmlns:m="http://schemas.openxmlformats.org/officeDocument/2006/math">
                    <m:r>
                      <a:rPr lang="fr-FR" sz="1400" i="1" noProof="0">
                        <a:latin typeface="Cambria Math" panose="02040503050406030204" pitchFamily="18" charset="0"/>
                      </a:rPr>
                      <m:t>h</m:t>
                    </m:r>
                    <m:r>
                      <a:rPr lang="fr-FR" sz="1400" i="1" noProof="0">
                        <a:latin typeface="Cambria Math" panose="02040503050406030204" pitchFamily="18" charset="0"/>
                      </a:rPr>
                      <m:t>:</m:t>
                    </m:r>
                  </m:oMath>
                </a14:m>
                <a:r>
                  <a:rPr lang="fr-FR" sz="1400" noProof="0" dirty="0"/>
                  <a:t> profondeur de la nappe phréatique</a:t>
                </a:r>
              </a:p>
              <a:p>
                <a14:m>
                  <m:oMath xmlns:m="http://schemas.openxmlformats.org/officeDocument/2006/math">
                    <m:r>
                      <a:rPr lang="fr-FR" sz="1400" i="1" noProof="0" smtClean="0">
                        <a:latin typeface="Cambria Math" panose="02040503050406030204" pitchFamily="18" charset="0"/>
                        <a:ea typeface="Cambria Math" panose="02040503050406030204" pitchFamily="18" charset="0"/>
                      </a:rPr>
                      <m:t>𝜀</m:t>
                    </m:r>
                    <m:r>
                      <a:rPr lang="fr-FR" sz="1400" b="0" i="1" noProof="0" smtClean="0">
                        <a:latin typeface="Cambria Math" panose="02040503050406030204" pitchFamily="18" charset="0"/>
                        <a:ea typeface="Cambria Math" panose="02040503050406030204" pitchFamily="18" charset="0"/>
                      </a:rPr>
                      <m:t>:</m:t>
                    </m:r>
                  </m:oMath>
                </a14:m>
                <a:r>
                  <a:rPr lang="fr-FR" sz="1400" noProof="0" dirty="0"/>
                  <a:t> paramètre de relaxation    </a:t>
                </a:r>
                <a14:m>
                  <m:oMath xmlns:m="http://schemas.openxmlformats.org/officeDocument/2006/math">
                    <m:sSub>
                      <m:sSubPr>
                        <m:ctrlPr>
                          <a:rPr lang="fr-FR" sz="1400" i="1" noProof="0">
                            <a:latin typeface="Cambria Math" panose="02040503050406030204" pitchFamily="18" charset="0"/>
                          </a:rPr>
                        </m:ctrlPr>
                      </m:sSubPr>
                      <m:e>
                        <m:r>
                          <a:rPr lang="fr-FR" sz="1400" i="1" noProof="0">
                            <a:latin typeface="Cambria Math" panose="02040503050406030204" pitchFamily="18" charset="0"/>
                          </a:rPr>
                          <m:t>𝑧</m:t>
                        </m:r>
                      </m:e>
                      <m:sub>
                        <m:r>
                          <a:rPr lang="fr-FR" sz="1400" i="1" noProof="0">
                            <a:latin typeface="Cambria Math" panose="02040503050406030204" pitchFamily="18" charset="0"/>
                          </a:rPr>
                          <m:t>𝑏</m:t>
                        </m:r>
                      </m:sub>
                    </m:sSub>
                    <m:r>
                      <a:rPr lang="fr-FR" sz="1400" i="1" noProof="0">
                        <a:latin typeface="Cambria Math" panose="02040503050406030204" pitchFamily="18" charset="0"/>
                      </a:rPr>
                      <m:t>:</m:t>
                    </m:r>
                  </m:oMath>
                </a14:m>
                <a:r>
                  <a:rPr lang="fr-FR" sz="1400" noProof="0" dirty="0"/>
                  <a:t> élévation du substrat rocheux </a:t>
                </a:r>
              </a:p>
              <a:p>
                <a14:m>
                  <m:oMath xmlns:m="http://schemas.openxmlformats.org/officeDocument/2006/math">
                    <m:r>
                      <a:rPr lang="fr-FR" sz="1400" i="1" noProof="0" smtClean="0">
                        <a:latin typeface="Cambria Math" panose="02040503050406030204" pitchFamily="18" charset="0"/>
                        <a:ea typeface="Cambria Math" panose="02040503050406030204" pitchFamily="18" charset="0"/>
                      </a:rPr>
                      <m:t>𝛾</m:t>
                    </m:r>
                    <m:r>
                      <a:rPr lang="fr-FR" sz="1400" i="1" noProof="0">
                        <a:latin typeface="Cambria Math" panose="02040503050406030204" pitchFamily="18" charset="0"/>
                        <a:ea typeface="Cambria Math" panose="02040503050406030204" pitchFamily="18" charset="0"/>
                      </a:rPr>
                      <m:t>:</m:t>
                    </m:r>
                  </m:oMath>
                </a14:m>
                <a:r>
                  <a:rPr lang="fr-FR" sz="1400" noProof="0" dirty="0"/>
                  <a:t> rendement spécifique</a:t>
                </a:r>
              </a:p>
            </p:txBody>
          </p:sp>
        </mc:Choice>
        <mc:Fallback xmlns="">
          <p:sp>
            <p:nvSpPr>
              <p:cNvPr id="2" name="文本框 1">
                <a:extLst>
                  <a:ext uri="{FF2B5EF4-FFF2-40B4-BE49-F238E27FC236}">
                    <a16:creationId xmlns:a16="http://schemas.microsoft.com/office/drawing/2014/main" id="{3A282B94-93C3-053A-6196-0BA42553E17D}"/>
                  </a:ext>
                </a:extLst>
              </p:cNvPr>
              <p:cNvSpPr txBox="1">
                <a:spLocks noRot="1" noChangeAspect="1" noMove="1" noResize="1" noEditPoints="1" noAdjustHandles="1" noChangeArrowheads="1" noChangeShapeType="1" noTextEdit="1"/>
              </p:cNvSpPr>
              <p:nvPr/>
            </p:nvSpPr>
            <p:spPr>
              <a:xfrm>
                <a:off x="180856" y="4925189"/>
                <a:ext cx="5314860" cy="1169551"/>
              </a:xfrm>
              <a:prstGeom prst="rect">
                <a:avLst/>
              </a:prstGeom>
              <a:blipFill>
                <a:blip r:embed="rId8"/>
                <a:stretch>
                  <a:fillRect t="-1042" b="-41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37067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6" name="Rectangle 35">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noProof="0" dirty="0"/>
          </a:p>
        </p:txBody>
      </p:sp>
      <p:pic>
        <p:nvPicPr>
          <p:cNvPr id="3" name="图片 2" descr="图表&#10;&#10;AI 生成的内容可能不正确。">
            <a:extLst>
              <a:ext uri="{FF2B5EF4-FFF2-40B4-BE49-F238E27FC236}">
                <a16:creationId xmlns:a16="http://schemas.microsoft.com/office/drawing/2014/main" id="{72AD144D-92A8-7AA5-2F8B-FA6B61C00E03}"/>
              </a:ext>
            </a:extLst>
          </p:cNvPr>
          <p:cNvPicPr>
            <a:picLocks noChangeAspect="1"/>
          </p:cNvPicPr>
          <p:nvPr/>
        </p:nvPicPr>
        <p:blipFill>
          <a:blip r:embed="rId3"/>
          <a:stretch>
            <a:fillRect/>
          </a:stretch>
        </p:blipFill>
        <p:spPr>
          <a:xfrm>
            <a:off x="170425" y="2012370"/>
            <a:ext cx="5274310" cy="3385820"/>
          </a:xfrm>
          <a:prstGeom prst="rect">
            <a:avLst/>
          </a:prstGeom>
        </p:spPr>
      </p:pic>
      <p:grpSp>
        <p:nvGrpSpPr>
          <p:cNvPr id="38" name="Group 37">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39" name="Freeform: Shape 38">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40" name="Freeform: Shape 39">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41" name="Freeform: Shape 40">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42" name="Freeform: Shape 41">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grpSp>
      <p:sp>
        <p:nvSpPr>
          <p:cNvPr id="4" name="页脚占位符 3">
            <a:extLst>
              <a:ext uri="{FF2B5EF4-FFF2-40B4-BE49-F238E27FC236}">
                <a16:creationId xmlns:a16="http://schemas.microsoft.com/office/drawing/2014/main" id="{B06A683E-D5A8-AC90-771A-D0CD02FE50E3}"/>
              </a:ext>
            </a:extLst>
          </p:cNvPr>
          <p:cNvSpPr>
            <a:spLocks noGrp="1"/>
          </p:cNvSpPr>
          <p:nvPr>
            <p:ph type="ftr" sz="quarter" idx="11"/>
          </p:nvPr>
        </p:nvSpPr>
        <p:spPr>
          <a:xfrm>
            <a:off x="4038600" y="6356350"/>
            <a:ext cx="4114800" cy="365125"/>
          </a:xfrm>
        </p:spPr>
        <p:txBody>
          <a:bodyPr>
            <a:normAutofit/>
          </a:bodyPr>
          <a:lstStyle/>
          <a:p>
            <a:pPr>
              <a:spcAft>
                <a:spcPts val="600"/>
              </a:spcAft>
            </a:pPr>
            <a:r>
              <a:rPr lang="fr-FR" noProof="0" dirty="0" err="1"/>
              <a:t>Qinyan</a:t>
            </a:r>
            <a:r>
              <a:rPr lang="fr-FR" noProof="0" dirty="0"/>
              <a:t> YANG      Stage M2     Soutenance de stage — 2025</a:t>
            </a:r>
          </a:p>
        </p:txBody>
      </p:sp>
      <p:sp>
        <p:nvSpPr>
          <p:cNvPr id="5" name="灯片编号占位符 4">
            <a:extLst>
              <a:ext uri="{FF2B5EF4-FFF2-40B4-BE49-F238E27FC236}">
                <a16:creationId xmlns:a16="http://schemas.microsoft.com/office/drawing/2014/main" id="{B3FB04C8-81E9-7CE5-66D6-586D6341EE30}"/>
              </a:ext>
            </a:extLst>
          </p:cNvPr>
          <p:cNvSpPr>
            <a:spLocks noGrp="1"/>
          </p:cNvSpPr>
          <p:nvPr>
            <p:ph type="sldNum" sz="quarter" idx="12"/>
          </p:nvPr>
        </p:nvSpPr>
        <p:spPr>
          <a:xfrm>
            <a:off x="8610600" y="6356350"/>
            <a:ext cx="2743200" cy="365125"/>
          </a:xfrm>
        </p:spPr>
        <p:txBody>
          <a:bodyPr>
            <a:normAutofit/>
          </a:bodyPr>
          <a:lstStyle/>
          <a:p>
            <a:pPr>
              <a:spcAft>
                <a:spcPts val="600"/>
              </a:spcAft>
            </a:pPr>
            <a:fld id="{02625CE3-65DB-4542-8AE7-F35D1171AFB5}" type="slidenum">
              <a:rPr lang="fr-FR" noProof="0" smtClean="0"/>
              <a:pPr>
                <a:spcAft>
                  <a:spcPts val="600"/>
                </a:spcAft>
              </a:pPr>
              <a:t>6</a:t>
            </a:fld>
            <a:endParaRPr lang="fr-FR" noProof="0" dirty="0"/>
          </a:p>
        </p:txBody>
      </p:sp>
      <p:sp>
        <p:nvSpPr>
          <p:cNvPr id="2" name="标题 1">
            <a:extLst>
              <a:ext uri="{FF2B5EF4-FFF2-40B4-BE49-F238E27FC236}">
                <a16:creationId xmlns:a16="http://schemas.microsoft.com/office/drawing/2014/main" id="{D01B5390-F428-6C7E-CF61-F4CCA4D27911}"/>
              </a:ext>
            </a:extLst>
          </p:cNvPr>
          <p:cNvSpPr txBox="1">
            <a:spLocks/>
          </p:cNvSpPr>
          <p:nvPr/>
        </p:nvSpPr>
        <p:spPr>
          <a:xfrm>
            <a:off x="3354381" y="677845"/>
            <a:ext cx="5481884" cy="91440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Présentation des modèles</a:t>
            </a:r>
            <a:endParaRPr lang="fr-FR" sz="3600" b="1" noProof="0" dirty="0">
              <a:solidFill>
                <a:schemeClr val="tx2"/>
              </a:solidFill>
              <a:latin typeface="Calibri" panose="020F0502020204030204" pitchFamily="34" charset="0"/>
              <a:cs typeface="Calibri" panose="020F0502020204030204" pitchFamily="34" charset="0"/>
            </a:endParaRPr>
          </a:p>
        </p:txBody>
      </p:sp>
      <p:pic>
        <p:nvPicPr>
          <p:cNvPr id="10" name="图片 9">
            <a:extLst>
              <a:ext uri="{FF2B5EF4-FFF2-40B4-BE49-F238E27FC236}">
                <a16:creationId xmlns:a16="http://schemas.microsoft.com/office/drawing/2014/main" id="{8000AB64-1CEB-4B23-FA35-99488B1B63BD}"/>
              </a:ext>
            </a:extLst>
          </p:cNvPr>
          <p:cNvPicPr>
            <a:picLocks noChangeAspect="1"/>
          </p:cNvPicPr>
          <p:nvPr/>
        </p:nvPicPr>
        <p:blipFill>
          <a:blip r:embed="rId4"/>
          <a:stretch>
            <a:fillRect/>
          </a:stretch>
        </p:blipFill>
        <p:spPr>
          <a:xfrm>
            <a:off x="6209242" y="4805122"/>
            <a:ext cx="3848252" cy="625921"/>
          </a:xfrm>
          <a:prstGeom prst="rect">
            <a:avLst/>
          </a:prstGeom>
        </p:spPr>
      </p:pic>
      <p:pic>
        <p:nvPicPr>
          <p:cNvPr id="12" name="图片 11">
            <a:extLst>
              <a:ext uri="{FF2B5EF4-FFF2-40B4-BE49-F238E27FC236}">
                <a16:creationId xmlns:a16="http://schemas.microsoft.com/office/drawing/2014/main" id="{F99E8BE9-2192-A3AE-A8EC-CD973F79243F}"/>
              </a:ext>
            </a:extLst>
          </p:cNvPr>
          <p:cNvPicPr>
            <a:picLocks noChangeAspect="1"/>
          </p:cNvPicPr>
          <p:nvPr/>
        </p:nvPicPr>
        <p:blipFill>
          <a:blip r:embed="rId5"/>
          <a:stretch>
            <a:fillRect/>
          </a:stretch>
        </p:blipFill>
        <p:spPr>
          <a:xfrm>
            <a:off x="6209242" y="3762315"/>
            <a:ext cx="3146124" cy="646464"/>
          </a:xfrm>
          <a:prstGeom prst="rect">
            <a:avLst/>
          </a:prstGeom>
        </p:spPr>
      </p:pic>
      <p:pic>
        <p:nvPicPr>
          <p:cNvPr id="13" name="图片 12">
            <a:extLst>
              <a:ext uri="{FF2B5EF4-FFF2-40B4-BE49-F238E27FC236}">
                <a16:creationId xmlns:a16="http://schemas.microsoft.com/office/drawing/2014/main" id="{2D4167B7-A4AC-1415-1160-38AB4581BCE9}"/>
              </a:ext>
            </a:extLst>
          </p:cNvPr>
          <p:cNvPicPr>
            <a:picLocks noChangeAspect="1"/>
          </p:cNvPicPr>
          <p:nvPr/>
        </p:nvPicPr>
        <p:blipFill>
          <a:blip r:embed="rId6"/>
          <a:stretch>
            <a:fillRect/>
          </a:stretch>
        </p:blipFill>
        <p:spPr>
          <a:xfrm>
            <a:off x="6209242" y="2744448"/>
            <a:ext cx="3513516" cy="485912"/>
          </a:xfrm>
          <a:prstGeom prst="rect">
            <a:avLst/>
          </a:prstGeom>
        </p:spPr>
      </p:pic>
      <p:sp>
        <p:nvSpPr>
          <p:cNvPr id="14" name="内容占位符 2">
            <a:extLst>
              <a:ext uri="{FF2B5EF4-FFF2-40B4-BE49-F238E27FC236}">
                <a16:creationId xmlns:a16="http://schemas.microsoft.com/office/drawing/2014/main" id="{0167F5E0-9285-63EA-8852-79A0DCC30A65}"/>
              </a:ext>
            </a:extLst>
          </p:cNvPr>
          <p:cNvSpPr txBox="1">
            <a:spLocks/>
          </p:cNvSpPr>
          <p:nvPr/>
        </p:nvSpPr>
        <p:spPr>
          <a:xfrm>
            <a:off x="5444887" y="2270090"/>
            <a:ext cx="4513446" cy="3431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Équation de Richards modifiée :</a:t>
            </a:r>
            <a:endParaRPr lang="fr-FR" sz="2000" noProof="0" dirty="0">
              <a:solidFill>
                <a:schemeClr val="tx2"/>
              </a:solidFill>
              <a:latin typeface="Calibri" panose="020F0502020204030204" pitchFamily="34" charset="0"/>
              <a:cs typeface="Calibri" panose="020F0502020204030204" pitchFamily="34" charset="0"/>
            </a:endParaRPr>
          </a:p>
        </p:txBody>
      </p:sp>
      <p:sp>
        <p:nvSpPr>
          <p:cNvPr id="15" name="内容占位符 2">
            <a:extLst>
              <a:ext uri="{FF2B5EF4-FFF2-40B4-BE49-F238E27FC236}">
                <a16:creationId xmlns:a16="http://schemas.microsoft.com/office/drawing/2014/main" id="{871279CD-25A9-DF0B-D212-3493E8657FCA}"/>
              </a:ext>
            </a:extLst>
          </p:cNvPr>
          <p:cNvSpPr txBox="1">
            <a:spLocks/>
          </p:cNvSpPr>
          <p:nvPr/>
        </p:nvSpPr>
        <p:spPr>
          <a:xfrm>
            <a:off x="5444887" y="3281520"/>
            <a:ext cx="4513446" cy="3431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Flux d'échange :</a:t>
            </a:r>
            <a:endParaRPr lang="fr-FR" sz="2000" noProof="0" dirty="0">
              <a:solidFill>
                <a:schemeClr val="tx2"/>
              </a:solidFill>
              <a:latin typeface="Calibri" panose="020F0502020204030204" pitchFamily="34" charset="0"/>
              <a:cs typeface="Calibri" panose="020F0502020204030204" pitchFamily="34" charset="0"/>
            </a:endParaRPr>
          </a:p>
        </p:txBody>
      </p:sp>
      <p:sp>
        <p:nvSpPr>
          <p:cNvPr id="16" name="内容占位符 2">
            <a:extLst>
              <a:ext uri="{FF2B5EF4-FFF2-40B4-BE49-F238E27FC236}">
                <a16:creationId xmlns:a16="http://schemas.microsoft.com/office/drawing/2014/main" id="{4A13839B-6505-5582-2712-60A9E914AEAD}"/>
              </a:ext>
            </a:extLst>
          </p:cNvPr>
          <p:cNvSpPr txBox="1">
            <a:spLocks/>
          </p:cNvSpPr>
          <p:nvPr/>
        </p:nvSpPr>
        <p:spPr>
          <a:xfrm>
            <a:off x="5444886" y="4417313"/>
            <a:ext cx="5314860" cy="3431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Modèle BR (Équation  d'équilibre de la nappe) :</a:t>
            </a:r>
            <a:endParaRPr lang="fr-FR" sz="2000" noProof="0"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42367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2" name="Rectangle 11">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noProof="0" dirty="0"/>
          </a:p>
        </p:txBody>
      </p:sp>
      <p:pic>
        <p:nvPicPr>
          <p:cNvPr id="11" name="图片 10" descr="图表, 直方图&#10;&#10;AI 生成的内容可能不正确。">
            <a:extLst>
              <a:ext uri="{FF2B5EF4-FFF2-40B4-BE49-F238E27FC236}">
                <a16:creationId xmlns:a16="http://schemas.microsoft.com/office/drawing/2014/main" id="{D6AD3E83-410A-6C63-C5B0-73E7B32ED7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4323" y="2610478"/>
            <a:ext cx="3925471" cy="2734293"/>
          </a:xfrm>
          <a:prstGeom prst="rect">
            <a:avLst/>
          </a:prstGeom>
        </p:spPr>
      </p:pic>
      <p:sp>
        <p:nvSpPr>
          <p:cNvPr id="14" name="Freeform: Shape 1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16" name="Group 15">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7" name="Freeform: Shape 16">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8" name="Freeform: Shape 17">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9" name="Freeform: Shape 18">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20" name="Freeform: Shape 19">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21" name="Freeform: Shape 20">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22" name="Freeform: Shape 21">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23" name="Freeform: Shape 22">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solidFill>
                  <a:schemeClr val="lt1"/>
                </a:solidFill>
              </a:endParaRPr>
            </a:p>
          </p:txBody>
        </p:sp>
      </p:grpSp>
      <p:grpSp>
        <p:nvGrpSpPr>
          <p:cNvPr id="25" name="Group 24">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6" name="Freeform: Shape 25">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7" name="Freeform: Shape 26">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8" name="Freeform: Shape 27">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800" noProof="0" dirty="0"/>
            </a:p>
          </p:txBody>
        </p:sp>
        <p:sp>
          <p:nvSpPr>
            <p:cNvPr id="29" name="Freeform: Shape 28">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
        <p:nvSpPr>
          <p:cNvPr id="5" name="灯片编号占位符 4">
            <a:extLst>
              <a:ext uri="{FF2B5EF4-FFF2-40B4-BE49-F238E27FC236}">
                <a16:creationId xmlns:a16="http://schemas.microsoft.com/office/drawing/2014/main" id="{4FEB8FC5-0933-3856-3D1C-BC8C50D24A3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02625CE3-65DB-4542-8AE7-F35D1171AFB5}" type="slidenum">
              <a:rPr lang="fr-FR" noProof="0" smtClean="0">
                <a:solidFill>
                  <a:schemeClr val="tx1">
                    <a:tint val="75000"/>
                  </a:schemeClr>
                </a:solidFill>
              </a:rPr>
              <a:pPr>
                <a:spcAft>
                  <a:spcPts val="600"/>
                </a:spcAft>
              </a:pPr>
              <a:t>7</a:t>
            </a:fld>
            <a:endParaRPr lang="fr-FR" noProof="0" dirty="0">
              <a:solidFill>
                <a:schemeClr val="tx1">
                  <a:tint val="75000"/>
                </a:schemeClr>
              </a:solidFill>
            </a:endParaRPr>
          </a:p>
        </p:txBody>
      </p:sp>
      <p:grpSp>
        <p:nvGrpSpPr>
          <p:cNvPr id="31" name="Group 30">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2" name="Freeform: Shape 31">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3" name="Freeform: Shape 32">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4" name="Freeform: Shape 33">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800" noProof="0" dirty="0"/>
            </a:p>
          </p:txBody>
        </p:sp>
        <p:sp>
          <p:nvSpPr>
            <p:cNvPr id="35" name="Freeform: Shape 34">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
        <p:nvSpPr>
          <p:cNvPr id="30" name="内容占位符 2">
            <a:extLst>
              <a:ext uri="{FF2B5EF4-FFF2-40B4-BE49-F238E27FC236}">
                <a16:creationId xmlns:a16="http://schemas.microsoft.com/office/drawing/2014/main" id="{305958F0-7707-3F20-C13F-29349E9B32F1}"/>
              </a:ext>
            </a:extLst>
          </p:cNvPr>
          <p:cNvSpPr>
            <a:spLocks noGrp="1"/>
          </p:cNvSpPr>
          <p:nvPr>
            <p:ph idx="1"/>
          </p:nvPr>
        </p:nvSpPr>
        <p:spPr>
          <a:xfrm>
            <a:off x="313507" y="2913032"/>
            <a:ext cx="3762156" cy="1873760"/>
          </a:xfrm>
        </p:spPr>
        <p:txBody>
          <a:bodyPr anchor="t">
            <a:normAutofit lnSpcReduction="10000"/>
          </a:bodyPr>
          <a:lstStyle/>
          <a:p>
            <a:pPr>
              <a:buFont typeface="Wingdings" panose="05000000000000000000" pitchFamily="2" charset="2"/>
              <a:buChar char="Ø"/>
            </a:pPr>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Échecs de convergence</a:t>
            </a:r>
          </a:p>
          <a:p>
            <a:pPr lvl="1"/>
            <a:r>
              <a:rPr lang="fr-FR" sz="1600" noProof="0" dirty="0">
                <a:solidFill>
                  <a:schemeClr val="tx2"/>
                </a:solidFill>
                <a:latin typeface="Calibri" panose="020F0502020204030204" pitchFamily="34" charset="0"/>
                <a:ea typeface="Calibri" panose="020F0502020204030204" pitchFamily="34" charset="0"/>
                <a:cs typeface="Calibri" panose="020F0502020204030204" pitchFamily="34" charset="0"/>
              </a:rPr>
              <a:t>Auto-réduction du pas de temps </a:t>
            </a:r>
            <a:r>
              <a:rPr lang="fr-FR" sz="1600" noProof="0" dirty="0" err="1">
                <a:solidFill>
                  <a:schemeClr val="tx2"/>
                </a:solidFill>
                <a:latin typeface="Calibri" panose="020F0502020204030204" pitchFamily="34" charset="0"/>
                <a:ea typeface="Calibri" panose="020F0502020204030204" pitchFamily="34" charset="0"/>
                <a:cs typeface="Calibri" panose="020F0502020204030204" pitchFamily="34" charset="0"/>
              </a:rPr>
              <a:t>dt</a:t>
            </a:r>
            <a:endParaRPr lang="fr-FR" sz="1600" noProof="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lvl="1"/>
            <a:r>
              <a:rPr lang="fr-FR" sz="1600" noProof="0" dirty="0" err="1">
                <a:solidFill>
                  <a:schemeClr val="tx2"/>
                </a:solidFill>
                <a:latin typeface="Calibri" panose="020F0502020204030204" pitchFamily="34" charset="0"/>
                <a:ea typeface="Calibri" panose="020F0502020204030204" pitchFamily="34" charset="0"/>
                <a:cs typeface="Calibri" panose="020F0502020204030204" pitchFamily="34" charset="0"/>
              </a:rPr>
              <a:t>Sigmoid</a:t>
            </a:r>
            <a:r>
              <a:rPr lang="fr-FR" sz="1600" noProof="0" dirty="0">
                <a:solidFill>
                  <a:schemeClr val="tx2"/>
                </a:solidFill>
                <a:latin typeface="Calibri" panose="020F0502020204030204" pitchFamily="34" charset="0"/>
                <a:ea typeface="Calibri" panose="020F0502020204030204" pitchFamily="34" charset="0"/>
                <a:cs typeface="Calibri" panose="020F0502020204030204" pitchFamily="34" charset="0"/>
              </a:rPr>
              <a:t> approximation</a:t>
            </a:r>
          </a:p>
          <a:p>
            <a:pPr>
              <a:buFont typeface="Wingdings" panose="05000000000000000000" pitchFamily="2" charset="2"/>
              <a:buChar char="Ø"/>
            </a:pPr>
            <a:r>
              <a:rPr lang="fr-FR" sz="2000" noProof="0" dirty="0">
                <a:solidFill>
                  <a:schemeClr val="tx2"/>
                </a:solidFill>
                <a:latin typeface="Calibri" panose="020F0502020204030204" pitchFamily="34" charset="0"/>
                <a:ea typeface="Calibri" panose="020F0502020204030204" pitchFamily="34" charset="0"/>
                <a:cs typeface="Calibri" panose="020F0502020204030204" pitchFamily="34" charset="0"/>
              </a:rPr>
              <a:t>Décalage temporal</a:t>
            </a:r>
          </a:p>
          <a:p>
            <a:pPr lvl="1"/>
            <a:r>
              <a:rPr lang="fr-FR" sz="1600" noProof="0" dirty="0" err="1">
                <a:solidFill>
                  <a:schemeClr val="tx2"/>
                </a:solidFill>
                <a:latin typeface="Calibri" panose="020F0502020204030204" pitchFamily="34" charset="0"/>
                <a:ea typeface="Calibri" panose="020F0502020204030204" pitchFamily="34" charset="0"/>
                <a:cs typeface="Calibri" panose="020F0502020204030204" pitchFamily="34" charset="0"/>
              </a:rPr>
              <a:t>Sigmoid</a:t>
            </a:r>
            <a:r>
              <a:rPr lang="fr-FR" sz="1600" noProof="0" dirty="0">
                <a:solidFill>
                  <a:schemeClr val="tx2"/>
                </a:solidFill>
                <a:latin typeface="Calibri" panose="020F0502020204030204" pitchFamily="34" charset="0"/>
                <a:ea typeface="Calibri" panose="020F0502020204030204" pitchFamily="34" charset="0"/>
                <a:cs typeface="Calibri" panose="020F0502020204030204" pitchFamily="34" charset="0"/>
              </a:rPr>
              <a:t> approximation</a:t>
            </a:r>
          </a:p>
          <a:p>
            <a:pPr lvl="1"/>
            <a:r>
              <a:rPr lang="fr-FR" sz="1600" noProof="0" dirty="0">
                <a:solidFill>
                  <a:schemeClr val="tx2"/>
                </a:solidFill>
                <a:latin typeface="Calibri" panose="020F0502020204030204" pitchFamily="34" charset="0"/>
                <a:ea typeface="Calibri" panose="020F0502020204030204" pitchFamily="34" charset="0"/>
                <a:cs typeface="Calibri" panose="020F0502020204030204" pitchFamily="34" charset="0"/>
              </a:rPr>
              <a:t>Intégration du </a:t>
            </a:r>
            <a:r>
              <a:rPr lang="fr-FR" sz="1600" noProof="0" dirty="0" err="1">
                <a:solidFill>
                  <a:schemeClr val="tx2"/>
                </a:solidFill>
                <a:latin typeface="Calibri" panose="020F0502020204030204" pitchFamily="34" charset="0"/>
                <a:ea typeface="Calibri" panose="020F0502020204030204" pitchFamily="34" charset="0"/>
                <a:cs typeface="Calibri" panose="020F0502020204030204" pitchFamily="34" charset="0"/>
              </a:rPr>
              <a:t>dt</a:t>
            </a:r>
            <a:endParaRPr lang="fr-FR" sz="1600" noProof="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lvl="1"/>
            <a:endParaRPr lang="fr-FR" sz="1600" noProof="0" dirty="0">
              <a:solidFill>
                <a:schemeClr val="tx2"/>
              </a:solidFill>
              <a:latin typeface="Calibri" panose="020F0502020204030204" pitchFamily="34" charset="0"/>
              <a:cs typeface="Calibri" panose="020F0502020204030204" pitchFamily="34" charset="0"/>
            </a:endParaRPr>
          </a:p>
        </p:txBody>
      </p:sp>
      <p:sp>
        <p:nvSpPr>
          <p:cNvPr id="36" name="标题 1">
            <a:extLst>
              <a:ext uri="{FF2B5EF4-FFF2-40B4-BE49-F238E27FC236}">
                <a16:creationId xmlns:a16="http://schemas.microsoft.com/office/drawing/2014/main" id="{9ECDDFC7-2869-7332-359D-62DB275749F5}"/>
              </a:ext>
            </a:extLst>
          </p:cNvPr>
          <p:cNvSpPr txBox="1">
            <a:spLocks/>
          </p:cNvSpPr>
          <p:nvPr/>
        </p:nvSpPr>
        <p:spPr>
          <a:xfrm>
            <a:off x="3916437" y="448830"/>
            <a:ext cx="4601242" cy="10419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Tests des modèles</a:t>
            </a:r>
            <a:endParaRPr lang="fr-FR" sz="3600" b="1" noProof="0" dirty="0">
              <a:solidFill>
                <a:schemeClr val="tx2"/>
              </a:solidFill>
            </a:endParaRPr>
          </a:p>
        </p:txBody>
      </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CA83AFEC-7F55-C6A4-4480-1F2F892AA059}"/>
                  </a:ext>
                </a:extLst>
              </p:cNvPr>
              <p:cNvSpPr txBox="1"/>
              <p:nvPr/>
            </p:nvSpPr>
            <p:spPr>
              <a:xfrm>
                <a:off x="8370336" y="3186624"/>
                <a:ext cx="2990498" cy="5062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600" b="0" i="1" noProof="0" smtClean="0">
                          <a:latin typeface="Cambria Math" panose="02040503050406030204" pitchFamily="18" charset="0"/>
                        </a:rPr>
                        <m:t>𝑆</m:t>
                      </m:r>
                      <m:d>
                        <m:dPr>
                          <m:ctrlPr>
                            <a:rPr lang="fr-FR" sz="1600" b="0" i="1" noProof="0" smtClean="0">
                              <a:latin typeface="Cambria Math" panose="02040503050406030204" pitchFamily="18" charset="0"/>
                            </a:rPr>
                          </m:ctrlPr>
                        </m:dPr>
                        <m:e>
                          <m:r>
                            <a:rPr lang="fr-FR" sz="1600" b="0" i="1" noProof="0" smtClean="0">
                              <a:latin typeface="Cambria Math" panose="02040503050406030204" pitchFamily="18" charset="0"/>
                            </a:rPr>
                            <m:t>𝑡</m:t>
                          </m:r>
                          <m:r>
                            <a:rPr lang="fr-FR" sz="1600" b="0" i="1" noProof="0" smtClean="0">
                              <a:latin typeface="Cambria Math" panose="02040503050406030204" pitchFamily="18" charset="0"/>
                            </a:rPr>
                            <m:t>, </m:t>
                          </m:r>
                          <m:sSub>
                            <m:sSubPr>
                              <m:ctrlPr>
                                <a:rPr lang="fr-FR" sz="1600" b="0" i="1" noProof="0" smtClean="0">
                                  <a:latin typeface="Cambria Math" panose="02040503050406030204" pitchFamily="18" charset="0"/>
                                </a:rPr>
                              </m:ctrlPr>
                            </m:sSubPr>
                            <m:e>
                              <m:r>
                                <a:rPr lang="fr-FR" sz="1600" b="0" i="1" noProof="0" smtClean="0">
                                  <a:latin typeface="Cambria Math" panose="02040503050406030204" pitchFamily="18" charset="0"/>
                                </a:rPr>
                                <m:t>𝑡</m:t>
                              </m:r>
                            </m:e>
                            <m:sub>
                              <m:r>
                                <a:rPr lang="fr-FR" sz="1600" b="0" i="1" noProof="0" smtClean="0">
                                  <a:latin typeface="Cambria Math" panose="02040503050406030204" pitchFamily="18" charset="0"/>
                                </a:rPr>
                                <m:t>0</m:t>
                              </m:r>
                            </m:sub>
                          </m:sSub>
                          <m:r>
                            <a:rPr lang="fr-FR" sz="1600" b="0" i="1" noProof="0" smtClean="0">
                              <a:latin typeface="Cambria Math" panose="02040503050406030204" pitchFamily="18" charset="0"/>
                            </a:rPr>
                            <m:t>, </m:t>
                          </m:r>
                          <m:r>
                            <a:rPr lang="fr-FR" sz="1600" b="0" i="1" noProof="0" smtClean="0">
                              <a:latin typeface="Cambria Math" panose="02040503050406030204" pitchFamily="18" charset="0"/>
                            </a:rPr>
                            <m:t>𝜀</m:t>
                          </m:r>
                        </m:e>
                      </m:d>
                      <m:r>
                        <a:rPr lang="fr-FR" sz="1600" b="0" i="1" noProof="0" smtClean="0">
                          <a:latin typeface="Cambria Math" panose="02040503050406030204" pitchFamily="18" charset="0"/>
                        </a:rPr>
                        <m:t>=</m:t>
                      </m:r>
                      <m:f>
                        <m:fPr>
                          <m:ctrlPr>
                            <a:rPr lang="fr-FR" sz="1600" b="0" i="1" noProof="0" smtClean="0">
                              <a:latin typeface="Cambria Math" panose="02040503050406030204" pitchFamily="18" charset="0"/>
                            </a:rPr>
                          </m:ctrlPr>
                        </m:fPr>
                        <m:num>
                          <m:r>
                            <a:rPr lang="fr-FR" sz="1600" b="0" i="1" noProof="0" smtClean="0">
                              <a:latin typeface="Cambria Math" panose="02040503050406030204" pitchFamily="18" charset="0"/>
                            </a:rPr>
                            <m:t>1</m:t>
                          </m:r>
                        </m:num>
                        <m:den>
                          <m:r>
                            <a:rPr lang="fr-FR" sz="1600" b="0" i="1" noProof="0" smtClean="0">
                              <a:latin typeface="Cambria Math" panose="02040503050406030204" pitchFamily="18" charset="0"/>
                            </a:rPr>
                            <m:t>1+</m:t>
                          </m:r>
                          <m:r>
                            <m:rPr>
                              <m:sty m:val="p"/>
                            </m:rPr>
                            <a:rPr lang="fr-FR" sz="1600" b="0" i="0" noProof="0" smtClean="0">
                              <a:latin typeface="Cambria Math" panose="02040503050406030204" pitchFamily="18" charset="0"/>
                            </a:rPr>
                            <m:t>exp</m:t>
                          </m:r>
                          <m:r>
                            <a:rPr lang="fr-FR" sz="1600" b="0" i="1" noProof="0" smtClean="0">
                              <a:latin typeface="Cambria Math" panose="02040503050406030204" pitchFamily="18" charset="0"/>
                            </a:rPr>
                            <m:t>⁡(−(</m:t>
                          </m:r>
                          <m:r>
                            <a:rPr lang="fr-FR" sz="1600" b="0" i="1" noProof="0" smtClean="0">
                              <a:latin typeface="Cambria Math" panose="02040503050406030204" pitchFamily="18" charset="0"/>
                            </a:rPr>
                            <m:t>𝑡</m:t>
                          </m:r>
                          <m:r>
                            <a:rPr lang="fr-FR" sz="1600" b="0" i="1" noProof="0" smtClean="0">
                              <a:latin typeface="Cambria Math" panose="02040503050406030204" pitchFamily="18" charset="0"/>
                            </a:rPr>
                            <m:t>−</m:t>
                          </m:r>
                          <m:sSub>
                            <m:sSubPr>
                              <m:ctrlPr>
                                <a:rPr lang="fr-FR" sz="1600" i="1" noProof="0" smtClean="0">
                                  <a:latin typeface="Cambria Math" panose="02040503050406030204" pitchFamily="18" charset="0"/>
                                </a:rPr>
                              </m:ctrlPr>
                            </m:sSubPr>
                            <m:e>
                              <m:r>
                                <a:rPr lang="fr-FR" sz="1600" i="1" noProof="0" smtClean="0">
                                  <a:latin typeface="Cambria Math" panose="02040503050406030204" pitchFamily="18" charset="0"/>
                                </a:rPr>
                                <m:t>𝑡</m:t>
                              </m:r>
                            </m:e>
                            <m:sub>
                              <m:r>
                                <a:rPr lang="fr-FR" sz="1600" i="1" noProof="0" smtClean="0">
                                  <a:latin typeface="Cambria Math" panose="02040503050406030204" pitchFamily="18" charset="0"/>
                                </a:rPr>
                                <m:t>0</m:t>
                              </m:r>
                            </m:sub>
                          </m:sSub>
                          <m:r>
                            <a:rPr lang="fr-FR" sz="1600" b="0" i="1" noProof="0" smtClean="0">
                              <a:latin typeface="Cambria Math" panose="02040503050406030204" pitchFamily="18" charset="0"/>
                            </a:rPr>
                            <m:t>)/</m:t>
                          </m:r>
                          <m:r>
                            <a:rPr lang="fr-FR" sz="1600" i="1" noProof="0" smtClean="0">
                              <a:latin typeface="Cambria Math" panose="02040503050406030204" pitchFamily="18" charset="0"/>
                            </a:rPr>
                            <m:t>𝜀</m:t>
                          </m:r>
                          <m:r>
                            <a:rPr lang="fr-FR" sz="1600" b="0" i="1" noProof="0" smtClean="0">
                              <a:latin typeface="Cambria Math" panose="02040503050406030204" pitchFamily="18" charset="0"/>
                            </a:rPr>
                            <m:t>)</m:t>
                          </m:r>
                        </m:den>
                      </m:f>
                    </m:oMath>
                  </m:oMathPara>
                </a14:m>
                <a:endParaRPr lang="fr-FR" sz="1600" noProof="0" dirty="0"/>
              </a:p>
            </p:txBody>
          </p:sp>
        </mc:Choice>
        <mc:Fallback xmlns="">
          <p:sp>
            <p:nvSpPr>
              <p:cNvPr id="37" name="文本框 36">
                <a:extLst>
                  <a:ext uri="{FF2B5EF4-FFF2-40B4-BE49-F238E27FC236}">
                    <a16:creationId xmlns:a16="http://schemas.microsoft.com/office/drawing/2014/main" id="{CA83AFEC-7F55-C6A4-4480-1F2F892AA059}"/>
                  </a:ext>
                </a:extLst>
              </p:cNvPr>
              <p:cNvSpPr txBox="1">
                <a:spLocks noRot="1" noChangeAspect="1" noMove="1" noResize="1" noEditPoints="1" noAdjustHandles="1" noChangeArrowheads="1" noChangeShapeType="1" noTextEdit="1"/>
              </p:cNvSpPr>
              <p:nvPr/>
            </p:nvSpPr>
            <p:spPr>
              <a:xfrm>
                <a:off x="8370336" y="3186624"/>
                <a:ext cx="2990498" cy="50629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80EE74A8-9CC8-72A2-809A-2DE2E42D0C73}"/>
                  </a:ext>
                </a:extLst>
              </p:cNvPr>
              <p:cNvSpPr txBox="1"/>
              <p:nvPr/>
            </p:nvSpPr>
            <p:spPr>
              <a:xfrm>
                <a:off x="8370336" y="3989369"/>
                <a:ext cx="3364896" cy="6923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600" b="0" i="1" noProof="0" smtClean="0">
                          <a:latin typeface="Cambria Math" panose="02040503050406030204" pitchFamily="18" charset="0"/>
                        </a:rPr>
                        <m:t>𝑅</m:t>
                      </m:r>
                      <m:d>
                        <m:dPr>
                          <m:ctrlPr>
                            <a:rPr lang="fr-FR" sz="1600" b="0" i="1" noProof="0" smtClean="0">
                              <a:latin typeface="Cambria Math" panose="02040503050406030204" pitchFamily="18" charset="0"/>
                            </a:rPr>
                          </m:ctrlPr>
                        </m:dPr>
                        <m:e>
                          <m:r>
                            <a:rPr lang="fr-FR" sz="1600" b="0" i="1" noProof="0" smtClean="0">
                              <a:latin typeface="Cambria Math" panose="02040503050406030204" pitchFamily="18" charset="0"/>
                            </a:rPr>
                            <m:t>𝑡</m:t>
                          </m:r>
                        </m:e>
                      </m:d>
                      <m:r>
                        <a:rPr lang="fr-FR" sz="1600" b="0" i="1" noProof="0" smtClean="0">
                          <a:latin typeface="Cambria Math" panose="02040503050406030204" pitchFamily="18" charset="0"/>
                        </a:rPr>
                        <m:t>=</m:t>
                      </m:r>
                      <m:nary>
                        <m:naryPr>
                          <m:chr m:val="∑"/>
                          <m:ctrlPr>
                            <a:rPr lang="fr-FR" sz="1600" b="0" i="1" noProof="0" smtClean="0">
                              <a:latin typeface="Cambria Math" panose="02040503050406030204" pitchFamily="18" charset="0"/>
                            </a:rPr>
                          </m:ctrlPr>
                        </m:naryPr>
                        <m:sub>
                          <m:r>
                            <m:rPr>
                              <m:brk m:alnAt="23"/>
                            </m:rPr>
                            <a:rPr lang="fr-FR" sz="1600" b="0" i="1" noProof="0" smtClean="0">
                              <a:latin typeface="Cambria Math" panose="02040503050406030204" pitchFamily="18" charset="0"/>
                            </a:rPr>
                            <m:t>𝑖</m:t>
                          </m:r>
                          <m:r>
                            <a:rPr lang="fr-FR" sz="1600" b="0" i="1" noProof="0" smtClean="0">
                              <a:latin typeface="Cambria Math" panose="02040503050406030204" pitchFamily="18" charset="0"/>
                            </a:rPr>
                            <m:t>=1</m:t>
                          </m:r>
                        </m:sub>
                        <m:sup>
                          <m:r>
                            <a:rPr lang="fr-FR" sz="1600" b="0" i="1" noProof="0" smtClean="0">
                              <a:latin typeface="Cambria Math" panose="02040503050406030204" pitchFamily="18" charset="0"/>
                            </a:rPr>
                            <m:t>𝑁</m:t>
                          </m:r>
                        </m:sup>
                        <m:e>
                          <m:sSub>
                            <m:sSubPr>
                              <m:ctrlPr>
                                <a:rPr lang="fr-FR" sz="1600" b="0" i="1" noProof="0" smtClean="0">
                                  <a:latin typeface="Cambria Math" panose="02040503050406030204" pitchFamily="18" charset="0"/>
                                </a:rPr>
                              </m:ctrlPr>
                            </m:sSubPr>
                            <m:e>
                              <m:r>
                                <a:rPr lang="fr-FR" sz="1600" b="0" i="1" noProof="0" smtClean="0">
                                  <a:latin typeface="Cambria Math" panose="02040503050406030204" pitchFamily="18" charset="0"/>
                                </a:rPr>
                                <m:t>𝐴</m:t>
                              </m:r>
                            </m:e>
                            <m:sub>
                              <m:r>
                                <a:rPr lang="fr-FR" sz="1600" b="0" i="1" noProof="0" smtClean="0">
                                  <a:latin typeface="Cambria Math" panose="02040503050406030204" pitchFamily="18" charset="0"/>
                                </a:rPr>
                                <m:t>𝑖</m:t>
                              </m:r>
                            </m:sub>
                          </m:sSub>
                          <m:r>
                            <a:rPr lang="fr-FR" sz="1600" b="0" i="1" noProof="0" smtClean="0">
                              <a:latin typeface="Cambria Math" panose="02040503050406030204" pitchFamily="18" charset="0"/>
                            </a:rPr>
                            <m:t>(</m:t>
                          </m:r>
                          <m:r>
                            <a:rPr lang="fr-FR" sz="1600" i="1" noProof="0" smtClean="0">
                              <a:latin typeface="Cambria Math" panose="02040503050406030204" pitchFamily="18" charset="0"/>
                            </a:rPr>
                            <m:t>𝑆</m:t>
                          </m:r>
                          <m:d>
                            <m:dPr>
                              <m:ctrlPr>
                                <a:rPr lang="fr-FR" sz="1600" i="1" noProof="0" smtClean="0">
                                  <a:latin typeface="Cambria Math" panose="02040503050406030204" pitchFamily="18" charset="0"/>
                                </a:rPr>
                              </m:ctrlPr>
                            </m:dPr>
                            <m:e>
                              <m:r>
                                <a:rPr lang="fr-FR" sz="1600" i="1" noProof="0" smtClean="0">
                                  <a:latin typeface="Cambria Math" panose="02040503050406030204" pitchFamily="18" charset="0"/>
                                </a:rPr>
                                <m:t>𝑡</m:t>
                              </m:r>
                              <m:r>
                                <a:rPr lang="fr-FR" sz="1600" i="1" noProof="0" smtClean="0">
                                  <a:latin typeface="Cambria Math" panose="02040503050406030204" pitchFamily="18" charset="0"/>
                                </a:rPr>
                                <m:t>, </m:t>
                              </m:r>
                              <m:sSub>
                                <m:sSubPr>
                                  <m:ctrlPr>
                                    <a:rPr lang="fr-FR" sz="1600" i="1" noProof="0" smtClean="0">
                                      <a:latin typeface="Cambria Math" panose="02040503050406030204" pitchFamily="18" charset="0"/>
                                    </a:rPr>
                                  </m:ctrlPr>
                                </m:sSubPr>
                                <m:e>
                                  <m:r>
                                    <a:rPr lang="fr-FR" sz="1600" i="1" noProof="0" smtClean="0">
                                      <a:latin typeface="Cambria Math" panose="02040503050406030204" pitchFamily="18" charset="0"/>
                                    </a:rPr>
                                    <m:t>𝑡</m:t>
                                  </m:r>
                                </m:e>
                                <m:sub>
                                  <m:r>
                                    <a:rPr lang="fr-FR" sz="1600" b="0" i="1" noProof="0" smtClean="0">
                                      <a:latin typeface="Cambria Math" panose="02040503050406030204" pitchFamily="18" charset="0"/>
                                    </a:rPr>
                                    <m:t>𝑖</m:t>
                                  </m:r>
                                </m:sub>
                              </m:sSub>
                              <m:r>
                                <a:rPr lang="fr-FR" sz="1600" i="1" noProof="0" smtClean="0">
                                  <a:latin typeface="Cambria Math" panose="02040503050406030204" pitchFamily="18" charset="0"/>
                                </a:rPr>
                                <m:t>, </m:t>
                              </m:r>
                              <m:r>
                                <a:rPr lang="fr-FR" sz="1600" i="1" noProof="0" smtClean="0">
                                  <a:latin typeface="Cambria Math" panose="02040503050406030204" pitchFamily="18" charset="0"/>
                                </a:rPr>
                                <m:t>𝜀</m:t>
                              </m:r>
                            </m:e>
                          </m:d>
                          <m:r>
                            <a:rPr lang="fr-FR" sz="1600" b="0" i="1" noProof="0" smtClean="0">
                              <a:latin typeface="Cambria Math" panose="02040503050406030204" pitchFamily="18" charset="0"/>
                            </a:rPr>
                            <m:t>−</m:t>
                          </m:r>
                          <m:r>
                            <a:rPr lang="fr-FR" sz="1600" i="1" noProof="0" smtClean="0">
                              <a:latin typeface="Cambria Math" panose="02040503050406030204" pitchFamily="18" charset="0"/>
                            </a:rPr>
                            <m:t>𝑆</m:t>
                          </m:r>
                          <m:d>
                            <m:dPr>
                              <m:ctrlPr>
                                <a:rPr lang="fr-FR" sz="1600" i="1" noProof="0" smtClean="0">
                                  <a:latin typeface="Cambria Math" panose="02040503050406030204" pitchFamily="18" charset="0"/>
                                </a:rPr>
                              </m:ctrlPr>
                            </m:dPr>
                            <m:e>
                              <m:r>
                                <a:rPr lang="fr-FR" sz="1600" i="1" noProof="0" smtClean="0">
                                  <a:latin typeface="Cambria Math" panose="02040503050406030204" pitchFamily="18" charset="0"/>
                                </a:rPr>
                                <m:t>𝑡</m:t>
                              </m:r>
                              <m:r>
                                <a:rPr lang="fr-FR" sz="1600" i="1" noProof="0" smtClean="0">
                                  <a:latin typeface="Cambria Math" panose="02040503050406030204" pitchFamily="18" charset="0"/>
                                </a:rPr>
                                <m:t>, </m:t>
                              </m:r>
                              <m:sSub>
                                <m:sSubPr>
                                  <m:ctrlPr>
                                    <a:rPr lang="fr-FR" sz="1600" i="1" noProof="0" smtClean="0">
                                      <a:latin typeface="Cambria Math" panose="02040503050406030204" pitchFamily="18" charset="0"/>
                                    </a:rPr>
                                  </m:ctrlPr>
                                </m:sSubPr>
                                <m:e>
                                  <m:r>
                                    <a:rPr lang="fr-FR" sz="1600" i="1" noProof="0" smtClean="0">
                                      <a:latin typeface="Cambria Math" panose="02040503050406030204" pitchFamily="18" charset="0"/>
                                    </a:rPr>
                                    <m:t>𝑡</m:t>
                                  </m:r>
                                </m:e>
                                <m:sub>
                                  <m:r>
                                    <a:rPr lang="fr-FR" sz="1600" b="0" i="1" noProof="0" smtClean="0">
                                      <a:latin typeface="Cambria Math" panose="02040503050406030204" pitchFamily="18" charset="0"/>
                                    </a:rPr>
                                    <m:t>𝑖</m:t>
                                  </m:r>
                                  <m:r>
                                    <a:rPr lang="fr-FR" sz="1600" b="0" i="1" noProof="0" smtClean="0">
                                      <a:latin typeface="Cambria Math" panose="02040503050406030204" pitchFamily="18" charset="0"/>
                                    </a:rPr>
                                    <m:t>+1</m:t>
                                  </m:r>
                                </m:sub>
                              </m:sSub>
                              <m:r>
                                <a:rPr lang="fr-FR" sz="1600" i="1" noProof="0" smtClean="0">
                                  <a:latin typeface="Cambria Math" panose="02040503050406030204" pitchFamily="18" charset="0"/>
                                </a:rPr>
                                <m:t>, </m:t>
                              </m:r>
                              <m:r>
                                <a:rPr lang="fr-FR" sz="1600" i="1" noProof="0" smtClean="0">
                                  <a:latin typeface="Cambria Math" panose="02040503050406030204" pitchFamily="18" charset="0"/>
                                </a:rPr>
                                <m:t>𝜀</m:t>
                              </m:r>
                            </m:e>
                          </m:d>
                          <m:r>
                            <a:rPr lang="fr-FR" sz="1600" b="0" i="1" noProof="0" smtClean="0">
                              <a:latin typeface="Cambria Math" panose="02040503050406030204" pitchFamily="18" charset="0"/>
                            </a:rPr>
                            <m:t>)</m:t>
                          </m:r>
                        </m:e>
                      </m:nary>
                    </m:oMath>
                  </m:oMathPara>
                </a14:m>
                <a:endParaRPr lang="fr-FR" sz="1600" noProof="0" dirty="0"/>
              </a:p>
            </p:txBody>
          </p:sp>
        </mc:Choice>
        <mc:Fallback xmlns="">
          <p:sp>
            <p:nvSpPr>
              <p:cNvPr id="38" name="文本框 37">
                <a:extLst>
                  <a:ext uri="{FF2B5EF4-FFF2-40B4-BE49-F238E27FC236}">
                    <a16:creationId xmlns:a16="http://schemas.microsoft.com/office/drawing/2014/main" id="{80EE74A8-9CC8-72A2-809A-2DE2E42D0C73}"/>
                  </a:ext>
                </a:extLst>
              </p:cNvPr>
              <p:cNvSpPr txBox="1">
                <a:spLocks noRot="1" noChangeAspect="1" noMove="1" noResize="1" noEditPoints="1" noAdjustHandles="1" noChangeArrowheads="1" noChangeShapeType="1" noTextEdit="1"/>
              </p:cNvSpPr>
              <p:nvPr/>
            </p:nvSpPr>
            <p:spPr>
              <a:xfrm>
                <a:off x="8370336" y="3989369"/>
                <a:ext cx="3364896" cy="692305"/>
              </a:xfrm>
              <a:prstGeom prst="rect">
                <a:avLst/>
              </a:prstGeom>
              <a:blipFill>
                <a:blip r:embed="rId5"/>
                <a:stretch>
                  <a:fillRect/>
                </a:stretch>
              </a:blipFill>
            </p:spPr>
            <p:txBody>
              <a:bodyPr/>
              <a:lstStyle/>
              <a:p>
                <a:r>
                  <a:rPr lang="zh-CN" altLang="en-US">
                    <a:noFill/>
                  </a:rPr>
                  <a:t> </a:t>
                </a:r>
              </a:p>
            </p:txBody>
          </p:sp>
        </mc:Fallback>
      </mc:AlternateContent>
      <p:sp>
        <p:nvSpPr>
          <p:cNvPr id="39" name="页脚占位符 3">
            <a:extLst>
              <a:ext uri="{FF2B5EF4-FFF2-40B4-BE49-F238E27FC236}">
                <a16:creationId xmlns:a16="http://schemas.microsoft.com/office/drawing/2014/main" id="{5B7854A0-16FF-E71F-C12F-14EA3B018D39}"/>
              </a:ext>
            </a:extLst>
          </p:cNvPr>
          <p:cNvSpPr>
            <a:spLocks noGrp="1"/>
          </p:cNvSpPr>
          <p:nvPr>
            <p:ph type="ftr" sz="quarter" idx="11"/>
          </p:nvPr>
        </p:nvSpPr>
        <p:spPr>
          <a:xfrm>
            <a:off x="4038600" y="6356350"/>
            <a:ext cx="4114800" cy="365125"/>
          </a:xfrm>
        </p:spPr>
        <p:txBody>
          <a:bodyPr>
            <a:normAutofit/>
          </a:bodyPr>
          <a:lstStyle/>
          <a:p>
            <a:pPr>
              <a:spcAft>
                <a:spcPts val="600"/>
              </a:spcAft>
            </a:pPr>
            <a:r>
              <a:rPr lang="fr-FR" noProof="0" dirty="0" err="1"/>
              <a:t>Qinyan</a:t>
            </a:r>
            <a:r>
              <a:rPr lang="fr-FR" noProof="0" dirty="0"/>
              <a:t> YANG      Stage M2     Soutenance de stage — 2025</a:t>
            </a:r>
          </a:p>
        </p:txBody>
      </p:sp>
    </p:spTree>
    <p:extLst>
      <p:ext uri="{BB962C8B-B14F-4D97-AF65-F5344CB8AC3E}">
        <p14:creationId xmlns:p14="http://schemas.microsoft.com/office/powerpoint/2010/main" val="610160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30" name="图片 29">
            <a:extLst>
              <a:ext uri="{FF2B5EF4-FFF2-40B4-BE49-F238E27FC236}">
                <a16:creationId xmlns:a16="http://schemas.microsoft.com/office/drawing/2014/main" id="{44A8B7B1-972E-F28C-7499-A49F7BD1AE0C}"/>
              </a:ext>
            </a:extLst>
          </p:cNvPr>
          <p:cNvPicPr>
            <a:picLocks noChangeAspect="1"/>
          </p:cNvPicPr>
          <p:nvPr/>
        </p:nvPicPr>
        <p:blipFill>
          <a:blip r:embed="rId3"/>
          <a:stretch>
            <a:fillRect/>
          </a:stretch>
        </p:blipFill>
        <p:spPr>
          <a:xfrm>
            <a:off x="5969310" y="1827214"/>
            <a:ext cx="4880780" cy="731129"/>
          </a:xfrm>
          <a:prstGeom prst="rect">
            <a:avLst/>
          </a:prstGeom>
        </p:spPr>
      </p:pic>
      <p:pic>
        <p:nvPicPr>
          <p:cNvPr id="11" name="图片 10">
            <a:extLst>
              <a:ext uri="{FF2B5EF4-FFF2-40B4-BE49-F238E27FC236}">
                <a16:creationId xmlns:a16="http://schemas.microsoft.com/office/drawing/2014/main" id="{1FD883D7-50FB-D587-34D8-E04B7F23AE98}"/>
              </a:ext>
            </a:extLst>
          </p:cNvPr>
          <p:cNvPicPr>
            <a:picLocks noChangeAspect="1"/>
          </p:cNvPicPr>
          <p:nvPr/>
        </p:nvPicPr>
        <p:blipFill>
          <a:blip r:embed="rId4"/>
          <a:stretch>
            <a:fillRect/>
          </a:stretch>
        </p:blipFill>
        <p:spPr>
          <a:xfrm>
            <a:off x="2628899" y="1951503"/>
            <a:ext cx="2406539" cy="606839"/>
          </a:xfrm>
          <a:prstGeom prst="rect">
            <a:avLst/>
          </a:prstGeom>
        </p:spPr>
      </p:pic>
      <p:pic>
        <p:nvPicPr>
          <p:cNvPr id="8" name="图片 7" descr="图表&#10;&#10;AI 生成的内容可能不正确。">
            <a:extLst>
              <a:ext uri="{FF2B5EF4-FFF2-40B4-BE49-F238E27FC236}">
                <a16:creationId xmlns:a16="http://schemas.microsoft.com/office/drawing/2014/main" id="{CBE16F81-7328-A135-8699-057CDD7A17C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2595" y="3289472"/>
            <a:ext cx="10426810" cy="2705335"/>
          </a:xfrm>
          <a:prstGeom prst="rect">
            <a:avLst/>
          </a:prstGeom>
        </p:spPr>
      </p:pic>
      <p:grpSp>
        <p:nvGrpSpPr>
          <p:cNvPr id="12" name="Group 11">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3" name="Freeform: Shape 12">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4" name="Freeform: Shape 13">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48" name="Freeform: Shape 14">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6" name="Freeform: Shape 15">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7" name="Freeform: Shape 16">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grpSp>
      <p:sp>
        <p:nvSpPr>
          <p:cNvPr id="4" name="页脚占位符 3">
            <a:extLst>
              <a:ext uri="{FF2B5EF4-FFF2-40B4-BE49-F238E27FC236}">
                <a16:creationId xmlns:a16="http://schemas.microsoft.com/office/drawing/2014/main" id="{F953115D-642B-2DE9-26C6-50DD018174CA}"/>
              </a:ext>
            </a:extLst>
          </p:cNvPr>
          <p:cNvSpPr>
            <a:spLocks noGrp="1"/>
          </p:cNvSpPr>
          <p:nvPr>
            <p:ph type="ftr" sz="quarter" idx="11"/>
          </p:nvPr>
        </p:nvSpPr>
        <p:spPr>
          <a:xfrm>
            <a:off x="4038600" y="6356350"/>
            <a:ext cx="4114800" cy="365125"/>
          </a:xfrm>
        </p:spPr>
        <p:txBody>
          <a:bodyPr>
            <a:normAutofit/>
          </a:bodyPr>
          <a:lstStyle/>
          <a:p>
            <a:pPr>
              <a:spcAft>
                <a:spcPts val="600"/>
              </a:spcAft>
            </a:pPr>
            <a:r>
              <a:rPr lang="fr-FR" noProof="0" dirty="0" err="1"/>
              <a:t>Qinyan</a:t>
            </a:r>
            <a:r>
              <a:rPr lang="fr-FR" noProof="0" dirty="0"/>
              <a:t> YANG      Stage M2     Soutenance de stage — 2025</a:t>
            </a:r>
          </a:p>
        </p:txBody>
      </p:sp>
      <p:sp>
        <p:nvSpPr>
          <p:cNvPr id="5" name="灯片编号占位符 4">
            <a:extLst>
              <a:ext uri="{FF2B5EF4-FFF2-40B4-BE49-F238E27FC236}">
                <a16:creationId xmlns:a16="http://schemas.microsoft.com/office/drawing/2014/main" id="{BB52D720-E6CA-D421-4A25-D4C0DCBA7D29}"/>
              </a:ext>
            </a:extLst>
          </p:cNvPr>
          <p:cNvSpPr>
            <a:spLocks noGrp="1"/>
          </p:cNvSpPr>
          <p:nvPr>
            <p:ph type="sldNum" sz="quarter" idx="12"/>
          </p:nvPr>
        </p:nvSpPr>
        <p:spPr>
          <a:xfrm>
            <a:off x="8610600" y="6356350"/>
            <a:ext cx="2743200" cy="365125"/>
          </a:xfrm>
        </p:spPr>
        <p:txBody>
          <a:bodyPr>
            <a:normAutofit/>
          </a:bodyPr>
          <a:lstStyle/>
          <a:p>
            <a:pPr>
              <a:spcAft>
                <a:spcPts val="600"/>
              </a:spcAft>
            </a:pPr>
            <a:fld id="{02625CE3-65DB-4542-8AE7-F35D1171AFB5}" type="slidenum">
              <a:rPr lang="fr-FR" noProof="0" smtClean="0"/>
              <a:pPr>
                <a:spcAft>
                  <a:spcPts val="600"/>
                </a:spcAft>
              </a:pPr>
              <a:t>8</a:t>
            </a:fld>
            <a:endParaRPr lang="fr-FR" noProof="0" dirty="0"/>
          </a:p>
        </p:txBody>
      </p:sp>
      <p:sp>
        <p:nvSpPr>
          <p:cNvPr id="6" name="标题 40">
            <a:extLst>
              <a:ext uri="{FF2B5EF4-FFF2-40B4-BE49-F238E27FC236}">
                <a16:creationId xmlns:a16="http://schemas.microsoft.com/office/drawing/2014/main" id="{FD7CA50E-E6AA-5DBC-F70C-3C7DA22C1294}"/>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Validation du modèle: BR vs Solution analytique </a:t>
            </a:r>
            <a:endParaRPr lang="fr-FR" sz="3600" b="1" noProof="0" dirty="0"/>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E17BD33E-E5BC-B066-7115-050C47B55CBD}"/>
                  </a:ext>
                </a:extLst>
              </p:cNvPr>
              <p:cNvSpPr txBox="1"/>
              <p:nvPr/>
            </p:nvSpPr>
            <p:spPr>
              <a:xfrm>
                <a:off x="6717920" y="2558343"/>
                <a:ext cx="3383559" cy="523220"/>
              </a:xfrm>
              <a:prstGeom prst="rect">
                <a:avLst/>
              </a:prstGeom>
              <a:noFill/>
            </p:spPr>
            <p:txBody>
              <a:bodyPr wrap="square" rtlCol="0">
                <a:spAutoFit/>
              </a:bodyPr>
              <a:lstStyle/>
              <a:p>
                <a14:m>
                  <m:oMath xmlns:m="http://schemas.openxmlformats.org/officeDocument/2006/math">
                    <m:sSub>
                      <m:sSubPr>
                        <m:ctrlPr>
                          <a:rPr lang="fr-FR" sz="1400" b="0" i="1" noProof="0" smtClean="0">
                            <a:latin typeface="Cambria Math" panose="02040503050406030204" pitchFamily="18" charset="0"/>
                          </a:rPr>
                        </m:ctrlPr>
                      </m:sSubPr>
                      <m:e>
                        <m:r>
                          <a:rPr lang="fr-FR" sz="1400" b="0" i="1" noProof="0" smtClean="0">
                            <a:latin typeface="Cambria Math" panose="02040503050406030204" pitchFamily="18" charset="0"/>
                          </a:rPr>
                          <m:t>𝑥</m:t>
                        </m:r>
                      </m:e>
                      <m:sub>
                        <m:r>
                          <a:rPr lang="fr-FR" sz="1400" b="0" i="1" noProof="0" smtClean="0">
                            <a:latin typeface="Cambria Math" panose="02040503050406030204" pitchFamily="18" charset="0"/>
                          </a:rPr>
                          <m:t>𝑚𝑎𝑥</m:t>
                        </m:r>
                      </m:sub>
                    </m:sSub>
                    <m:r>
                      <a:rPr lang="fr-FR" sz="1400" b="0" i="1" noProof="0" smtClean="0">
                        <a:latin typeface="Cambria Math" panose="02040503050406030204" pitchFamily="18" charset="0"/>
                      </a:rPr>
                      <m:t>:</m:t>
                    </m:r>
                  </m:oMath>
                </a14:m>
                <a:r>
                  <a:rPr lang="fr-FR" sz="1400" noProof="0" dirty="0"/>
                  <a:t> coordonnée horizontal maximale </a:t>
                </a:r>
              </a:p>
              <a:p>
                <a14:m>
                  <m:oMath xmlns:m="http://schemas.openxmlformats.org/officeDocument/2006/math">
                    <m:sSub>
                      <m:sSubPr>
                        <m:ctrlPr>
                          <a:rPr lang="fr-FR" sz="1400" i="1" noProof="0" smtClean="0">
                            <a:latin typeface="Cambria Math" panose="02040503050406030204" pitchFamily="18" charset="0"/>
                          </a:rPr>
                        </m:ctrlPr>
                      </m:sSubPr>
                      <m:e>
                        <m:r>
                          <a:rPr lang="fr-FR" sz="1400" i="1" noProof="0" smtClean="0">
                            <a:latin typeface="Cambria Math" panose="02040503050406030204" pitchFamily="18" charset="0"/>
                          </a:rPr>
                          <m:t>𝑥</m:t>
                        </m:r>
                      </m:e>
                      <m:sub>
                        <m:r>
                          <a:rPr lang="fr-FR" sz="1400" b="0" i="1" noProof="0" smtClean="0">
                            <a:latin typeface="Cambria Math" panose="02040503050406030204" pitchFamily="18" charset="0"/>
                          </a:rPr>
                          <m:t>𝑚𝑖𝑛</m:t>
                        </m:r>
                      </m:sub>
                    </m:sSub>
                    <m:r>
                      <a:rPr lang="fr-FR" sz="1400" i="1" noProof="0" smtClean="0">
                        <a:latin typeface="Cambria Math" panose="02040503050406030204" pitchFamily="18" charset="0"/>
                      </a:rPr>
                      <m:t>:</m:t>
                    </m:r>
                  </m:oMath>
                </a14:m>
                <a:r>
                  <a:rPr lang="fr-FR" sz="1400" noProof="0" dirty="0"/>
                  <a:t> coordonnée horizontal minimale </a:t>
                </a:r>
              </a:p>
            </p:txBody>
          </p:sp>
        </mc:Choice>
        <mc:Fallback xmlns="">
          <p:sp>
            <p:nvSpPr>
              <p:cNvPr id="36" name="文本框 35">
                <a:extLst>
                  <a:ext uri="{FF2B5EF4-FFF2-40B4-BE49-F238E27FC236}">
                    <a16:creationId xmlns:a16="http://schemas.microsoft.com/office/drawing/2014/main" id="{E17BD33E-E5BC-B066-7115-050C47B55CBD}"/>
                  </a:ext>
                </a:extLst>
              </p:cNvPr>
              <p:cNvSpPr txBox="1">
                <a:spLocks noRot="1" noChangeAspect="1" noMove="1" noResize="1" noEditPoints="1" noAdjustHandles="1" noChangeArrowheads="1" noChangeShapeType="1" noTextEdit="1"/>
              </p:cNvSpPr>
              <p:nvPr/>
            </p:nvSpPr>
            <p:spPr>
              <a:xfrm>
                <a:off x="6717920" y="2558343"/>
                <a:ext cx="3383559" cy="523220"/>
              </a:xfrm>
              <a:prstGeom prst="rect">
                <a:avLst/>
              </a:prstGeom>
              <a:blipFill>
                <a:blip r:embed="rId6"/>
                <a:stretch>
                  <a:fillRect t="-2326" b="-10465"/>
                </a:stretch>
              </a:blipFill>
            </p:spPr>
            <p:txBody>
              <a:bodyPr/>
              <a:lstStyle/>
              <a:p>
                <a:r>
                  <a:rPr lang="zh-CN" altLang="en-US">
                    <a:noFill/>
                  </a:rPr>
                  <a:t> </a:t>
                </a:r>
              </a:p>
            </p:txBody>
          </p:sp>
        </mc:Fallback>
      </mc:AlternateContent>
      <p:sp>
        <p:nvSpPr>
          <p:cNvPr id="47" name="文本框 46">
            <a:extLst>
              <a:ext uri="{FF2B5EF4-FFF2-40B4-BE49-F238E27FC236}">
                <a16:creationId xmlns:a16="http://schemas.microsoft.com/office/drawing/2014/main" id="{59F217BB-1C78-C0D1-8A87-BAEAF3F55BEF}"/>
              </a:ext>
            </a:extLst>
          </p:cNvPr>
          <p:cNvSpPr txBox="1"/>
          <p:nvPr/>
        </p:nvSpPr>
        <p:spPr>
          <a:xfrm>
            <a:off x="1033295" y="2101033"/>
            <a:ext cx="1491292" cy="307777"/>
          </a:xfrm>
          <a:prstGeom prst="rect">
            <a:avLst/>
          </a:prstGeom>
          <a:noFill/>
        </p:spPr>
        <p:txBody>
          <a:bodyPr wrap="square" rtlCol="0">
            <a:spAutoFit/>
          </a:bodyPr>
          <a:lstStyle/>
          <a:p>
            <a:r>
              <a:rPr lang="fr-FR" sz="1400" b="1" noProof="0" dirty="0"/>
              <a:t>Boussinesq 1D :</a:t>
            </a:r>
          </a:p>
        </p:txBody>
      </p:sp>
    </p:spTree>
    <p:extLst>
      <p:ext uri="{BB962C8B-B14F-4D97-AF65-F5344CB8AC3E}">
        <p14:creationId xmlns:p14="http://schemas.microsoft.com/office/powerpoint/2010/main" val="2093081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3" name="图片 2">
            <a:extLst>
              <a:ext uri="{FF2B5EF4-FFF2-40B4-BE49-F238E27FC236}">
                <a16:creationId xmlns:a16="http://schemas.microsoft.com/office/drawing/2014/main" id="{1B901F44-7D0F-DB6B-33A3-35122E3394A9}"/>
              </a:ext>
            </a:extLst>
          </p:cNvPr>
          <p:cNvPicPr>
            <a:picLocks noChangeAspect="1"/>
          </p:cNvPicPr>
          <p:nvPr/>
        </p:nvPicPr>
        <p:blipFill>
          <a:blip r:embed="rId3"/>
          <a:stretch>
            <a:fillRect/>
          </a:stretch>
        </p:blipFill>
        <p:spPr>
          <a:xfrm>
            <a:off x="3775222" y="6065080"/>
            <a:ext cx="4320417" cy="349124"/>
          </a:xfrm>
          <a:prstGeom prst="rect">
            <a:avLst/>
          </a:prstGeom>
        </p:spPr>
      </p:pic>
      <p:pic>
        <p:nvPicPr>
          <p:cNvPr id="48" name="图片 47" descr="图表, 漏斗图&#10;&#10;AI 生成的内容可能不正确。">
            <a:extLst>
              <a:ext uri="{FF2B5EF4-FFF2-40B4-BE49-F238E27FC236}">
                <a16:creationId xmlns:a16="http://schemas.microsoft.com/office/drawing/2014/main" id="{D378A9D2-6E9B-1422-D287-3EFF7CB21A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7365" y="3505181"/>
            <a:ext cx="7664835" cy="2559899"/>
          </a:xfrm>
          <a:prstGeom prst="rect">
            <a:avLst/>
          </a:prstGeom>
        </p:spPr>
      </p:pic>
      <p:pic>
        <p:nvPicPr>
          <p:cNvPr id="46" name="图片 45" descr="图片包含 图示&#10;&#10;AI 生成的内容可能不正确。">
            <a:extLst>
              <a:ext uri="{FF2B5EF4-FFF2-40B4-BE49-F238E27FC236}">
                <a16:creationId xmlns:a16="http://schemas.microsoft.com/office/drawing/2014/main" id="{BF096033-0D77-0F88-A6F8-191628C3BE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67525" y="1690688"/>
            <a:ext cx="6856644" cy="1900491"/>
          </a:xfrm>
          <a:prstGeom prst="rect">
            <a:avLst/>
          </a:prstGeom>
        </p:spPr>
      </p:pic>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grpSp>
      <p:sp>
        <p:nvSpPr>
          <p:cNvPr id="9" name="页脚占位符 8">
            <a:extLst>
              <a:ext uri="{FF2B5EF4-FFF2-40B4-BE49-F238E27FC236}">
                <a16:creationId xmlns:a16="http://schemas.microsoft.com/office/drawing/2014/main" id="{DA9C744D-F4A2-12E6-67EB-29362FC952CC}"/>
              </a:ext>
            </a:extLst>
          </p:cNvPr>
          <p:cNvSpPr>
            <a:spLocks noGrp="1"/>
          </p:cNvSpPr>
          <p:nvPr>
            <p:ph type="ftr" sz="quarter" idx="11"/>
          </p:nvPr>
        </p:nvSpPr>
        <p:spPr/>
        <p:txBody>
          <a:bodyPr/>
          <a:lstStyle/>
          <a:p>
            <a:r>
              <a:rPr lang="fr-FR" noProof="0" dirty="0" err="1"/>
              <a:t>Qinyan</a:t>
            </a:r>
            <a:r>
              <a:rPr lang="fr-FR" noProof="0" dirty="0"/>
              <a:t> YANG      Stage M2     Soutenance de stage — 2025</a:t>
            </a:r>
          </a:p>
        </p:txBody>
      </p:sp>
      <p:sp>
        <p:nvSpPr>
          <p:cNvPr id="16" name="灯片编号占位符 15">
            <a:extLst>
              <a:ext uri="{FF2B5EF4-FFF2-40B4-BE49-F238E27FC236}">
                <a16:creationId xmlns:a16="http://schemas.microsoft.com/office/drawing/2014/main" id="{E34625A7-7914-5B75-9369-D5ABBAF2B34A}"/>
              </a:ext>
            </a:extLst>
          </p:cNvPr>
          <p:cNvSpPr>
            <a:spLocks noGrp="1"/>
          </p:cNvSpPr>
          <p:nvPr>
            <p:ph type="sldNum" sz="quarter" idx="12"/>
          </p:nvPr>
        </p:nvSpPr>
        <p:spPr/>
        <p:txBody>
          <a:bodyPr/>
          <a:lstStyle/>
          <a:p>
            <a:fld id="{02625CE3-65DB-4542-8AE7-F35D1171AFB5}" type="slidenum">
              <a:rPr lang="fr-FR" noProof="0" smtClean="0"/>
              <a:t>9</a:t>
            </a:fld>
            <a:endParaRPr lang="fr-FR" noProof="0" dirty="0"/>
          </a:p>
        </p:txBody>
      </p:sp>
      <p:sp>
        <p:nvSpPr>
          <p:cNvPr id="41" name="标题 40">
            <a:extLst>
              <a:ext uri="{FF2B5EF4-FFF2-40B4-BE49-F238E27FC236}">
                <a16:creationId xmlns:a16="http://schemas.microsoft.com/office/drawing/2014/main" id="{044F458A-E823-CDB7-484C-D1860EE7A389}"/>
              </a:ext>
            </a:extLst>
          </p:cNvPr>
          <p:cNvSpPr>
            <a:spLocks noGrp="1"/>
          </p:cNvSpPr>
          <p:nvPr>
            <p:ph type="title"/>
          </p:nvPr>
        </p:nvSpPr>
        <p:spPr/>
        <p:txBody>
          <a:bodyPr>
            <a:normAutofit/>
          </a:body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Validation du modèle: Cas test 1 (BR vs R)</a:t>
            </a:r>
            <a:endParaRPr lang="fr-FR" sz="3600" b="1" noProof="0" dirty="0"/>
          </a:p>
        </p:txBody>
      </p:sp>
      <p:cxnSp>
        <p:nvCxnSpPr>
          <p:cNvPr id="4" name="直接箭头连接符 3">
            <a:extLst>
              <a:ext uri="{FF2B5EF4-FFF2-40B4-BE49-F238E27FC236}">
                <a16:creationId xmlns:a16="http://schemas.microsoft.com/office/drawing/2014/main" id="{7C92970F-EA0B-BA8E-52F8-12E9EFB7675B}"/>
              </a:ext>
            </a:extLst>
          </p:cNvPr>
          <p:cNvCxnSpPr/>
          <p:nvPr/>
        </p:nvCxnSpPr>
        <p:spPr>
          <a:xfrm>
            <a:off x="4529380" y="1645565"/>
            <a:ext cx="0" cy="457200"/>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5" name="直接箭头连接符 4">
            <a:extLst>
              <a:ext uri="{FF2B5EF4-FFF2-40B4-BE49-F238E27FC236}">
                <a16:creationId xmlns:a16="http://schemas.microsoft.com/office/drawing/2014/main" id="{4328AA61-C13D-579D-D4E2-BE993A3BDB13}"/>
              </a:ext>
            </a:extLst>
          </p:cNvPr>
          <p:cNvCxnSpPr/>
          <p:nvPr/>
        </p:nvCxnSpPr>
        <p:spPr>
          <a:xfrm>
            <a:off x="5197314" y="1616990"/>
            <a:ext cx="0" cy="457200"/>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6" name="直接箭头连接符 5">
            <a:extLst>
              <a:ext uri="{FF2B5EF4-FFF2-40B4-BE49-F238E27FC236}">
                <a16:creationId xmlns:a16="http://schemas.microsoft.com/office/drawing/2014/main" id="{760A4B20-524A-E6A7-7DBB-71CAE3F5E760}"/>
              </a:ext>
            </a:extLst>
          </p:cNvPr>
          <p:cNvCxnSpPr/>
          <p:nvPr/>
        </p:nvCxnSpPr>
        <p:spPr>
          <a:xfrm>
            <a:off x="5960821" y="1567643"/>
            <a:ext cx="0" cy="457200"/>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7" name="直接箭头连接符 6">
            <a:extLst>
              <a:ext uri="{FF2B5EF4-FFF2-40B4-BE49-F238E27FC236}">
                <a16:creationId xmlns:a16="http://schemas.microsoft.com/office/drawing/2014/main" id="{652280EC-F093-AA45-C1FF-C08FB992E350}"/>
              </a:ext>
            </a:extLst>
          </p:cNvPr>
          <p:cNvCxnSpPr/>
          <p:nvPr/>
        </p:nvCxnSpPr>
        <p:spPr>
          <a:xfrm>
            <a:off x="6631176" y="1532718"/>
            <a:ext cx="0" cy="457200"/>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17" name="直接箭头连接符 16">
            <a:extLst>
              <a:ext uri="{FF2B5EF4-FFF2-40B4-BE49-F238E27FC236}">
                <a16:creationId xmlns:a16="http://schemas.microsoft.com/office/drawing/2014/main" id="{59ADB96F-1E7C-6AA9-D1F4-B799C1CE6056}"/>
              </a:ext>
            </a:extLst>
          </p:cNvPr>
          <p:cNvCxnSpPr/>
          <p:nvPr/>
        </p:nvCxnSpPr>
        <p:spPr>
          <a:xfrm>
            <a:off x="7390432" y="1485228"/>
            <a:ext cx="0" cy="457200"/>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18" name="矩形 17">
            <a:extLst>
              <a:ext uri="{FF2B5EF4-FFF2-40B4-BE49-F238E27FC236}">
                <a16:creationId xmlns:a16="http://schemas.microsoft.com/office/drawing/2014/main" id="{0FE99271-E4EC-E7B3-B3E8-28023EF024A3}"/>
              </a:ext>
            </a:extLst>
          </p:cNvPr>
          <p:cNvSpPr/>
          <p:nvPr/>
        </p:nvSpPr>
        <p:spPr>
          <a:xfrm>
            <a:off x="5765233" y="1321388"/>
            <a:ext cx="865943" cy="307777"/>
          </a:xfrm>
          <a:prstGeom prst="rect">
            <a:avLst/>
          </a:prstGeom>
          <a:noFill/>
        </p:spPr>
        <p:txBody>
          <a:bodyPr wrap="none" lIns="91440" tIns="45720" rIns="91440" bIns="45720">
            <a:spAutoFit/>
          </a:bodyPr>
          <a:lstStyle/>
          <a:p>
            <a:pPr algn="ctr"/>
            <a:r>
              <a:rPr lang="en-US" altLang="zh-CN" sz="1400" b="0" cap="none" spc="0" dirty="0">
                <a:ln w="0"/>
                <a:solidFill>
                  <a:srgbClr val="FF0000"/>
                </a:solidFill>
                <a:effectLst>
                  <a:outerShdw blurRad="38100" dist="19050" dir="2700000" algn="tl" rotWithShape="0">
                    <a:schemeClr val="dk1">
                      <a:alpha val="40000"/>
                    </a:schemeClr>
                  </a:outerShdw>
                </a:effectLst>
              </a:rPr>
              <a:t>recharge</a:t>
            </a:r>
            <a:endParaRPr lang="zh-CN" altLang="en-US" sz="5400" b="0" cap="none" spc="0" dirty="0">
              <a:ln w="0"/>
              <a:solidFill>
                <a:srgbClr val="FF0000"/>
              </a:solidFill>
              <a:effectLst>
                <a:outerShdw blurRad="38100" dist="19050" dir="2700000" algn="tl" rotWithShape="0">
                  <a:schemeClr val="dk1">
                    <a:alpha val="40000"/>
                  </a:schemeClr>
                </a:outerShdw>
              </a:effectLst>
            </a:endParaRPr>
          </a:p>
        </p:txBody>
      </p:sp>
      <p:sp>
        <p:nvSpPr>
          <p:cNvPr id="19" name="矩形 18">
            <a:extLst>
              <a:ext uri="{FF2B5EF4-FFF2-40B4-BE49-F238E27FC236}">
                <a16:creationId xmlns:a16="http://schemas.microsoft.com/office/drawing/2014/main" id="{9CA10275-A6D1-CF62-40D5-A846DC1AAD57}"/>
              </a:ext>
            </a:extLst>
          </p:cNvPr>
          <p:cNvSpPr/>
          <p:nvPr/>
        </p:nvSpPr>
        <p:spPr>
          <a:xfrm>
            <a:off x="2317365" y="2755900"/>
            <a:ext cx="1457857" cy="260351"/>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9A25C32D-C85C-12F1-3B9E-12A5B55B3B92}"/>
              </a:ext>
            </a:extLst>
          </p:cNvPr>
          <p:cNvSpPr/>
          <p:nvPr/>
        </p:nvSpPr>
        <p:spPr>
          <a:xfrm>
            <a:off x="2718318" y="2425561"/>
            <a:ext cx="655949" cy="307777"/>
          </a:xfrm>
          <a:prstGeom prst="rect">
            <a:avLst/>
          </a:prstGeom>
          <a:noFill/>
        </p:spPr>
        <p:txBody>
          <a:bodyPr wrap="none" lIns="91440" tIns="45720" rIns="91440" bIns="45720">
            <a:spAutoFit/>
          </a:bodyPr>
          <a:lstStyle/>
          <a:p>
            <a:pPr algn="ctr"/>
            <a:r>
              <a:rPr lang="fr-FR" altLang="zh-CN" sz="1400" dirty="0">
                <a:solidFill>
                  <a:srgbClr val="FF0000"/>
                </a:solidFill>
              </a:rPr>
              <a:t>rivière</a:t>
            </a:r>
            <a:endParaRPr lang="zh-CN" altLang="en-US" sz="5400" b="0" cap="none" spc="0" dirty="0">
              <a:ln w="0"/>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07521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fill="hold"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par>
                                <p:cTn id="33" presetID="10" presetClass="entr" presetSubtype="0" fill="hold"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fade">
                                      <p:cBhvr>
                                        <p:cTn id="4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animBg="1"/>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3" name="图片 2">
            <a:extLst>
              <a:ext uri="{FF2B5EF4-FFF2-40B4-BE49-F238E27FC236}">
                <a16:creationId xmlns:a16="http://schemas.microsoft.com/office/drawing/2014/main" id="{0C6ECDA3-9A71-5BD6-CCDF-AE1AFA1034C0}"/>
              </a:ext>
            </a:extLst>
          </p:cNvPr>
          <p:cNvPicPr>
            <a:picLocks noChangeAspect="1"/>
          </p:cNvPicPr>
          <p:nvPr/>
        </p:nvPicPr>
        <p:blipFill>
          <a:blip r:embed="rId3"/>
          <a:stretch>
            <a:fillRect/>
          </a:stretch>
        </p:blipFill>
        <p:spPr>
          <a:xfrm>
            <a:off x="4583851" y="6352366"/>
            <a:ext cx="2743200" cy="128240"/>
          </a:xfrm>
          <a:prstGeom prst="rect">
            <a:avLst/>
          </a:prstGeom>
        </p:spPr>
      </p:pic>
      <p:pic>
        <p:nvPicPr>
          <p:cNvPr id="8" name="图片 7" descr="图示&#10;&#10;AI 生成的内容可能不正确。">
            <a:extLst>
              <a:ext uri="{FF2B5EF4-FFF2-40B4-BE49-F238E27FC236}">
                <a16:creationId xmlns:a16="http://schemas.microsoft.com/office/drawing/2014/main" id="{5FDC2BFE-F435-E9E4-8A66-81DF9002EA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7192" y="1137335"/>
            <a:ext cx="6109670" cy="5184963"/>
          </a:xfrm>
          <a:prstGeom prst="rect">
            <a:avLst/>
          </a:prstGeom>
        </p:spPr>
      </p:pic>
      <p:grpSp>
        <p:nvGrpSpPr>
          <p:cNvPr id="12" name="Group 11">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3" name="Freeform: Shape 12">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4" name="Freeform: Shape 13">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5" name="Freeform: Shape 14">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6" name="Freeform: Shape 15">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7" name="Freeform: Shape 16">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grpSp>
      <p:sp>
        <p:nvSpPr>
          <p:cNvPr id="4" name="页脚占位符 3">
            <a:extLst>
              <a:ext uri="{FF2B5EF4-FFF2-40B4-BE49-F238E27FC236}">
                <a16:creationId xmlns:a16="http://schemas.microsoft.com/office/drawing/2014/main" id="{2F4887FE-D4EB-66EE-493E-A9E0000BF197}"/>
              </a:ext>
            </a:extLst>
          </p:cNvPr>
          <p:cNvSpPr>
            <a:spLocks noGrp="1"/>
          </p:cNvSpPr>
          <p:nvPr>
            <p:ph type="ftr" sz="quarter" idx="11"/>
          </p:nvPr>
        </p:nvSpPr>
        <p:spPr>
          <a:xfrm>
            <a:off x="4038600" y="6356350"/>
            <a:ext cx="4114800" cy="365125"/>
          </a:xfrm>
        </p:spPr>
        <p:txBody>
          <a:bodyPr>
            <a:normAutofit/>
          </a:bodyPr>
          <a:lstStyle/>
          <a:p>
            <a:pPr>
              <a:spcAft>
                <a:spcPts val="600"/>
              </a:spcAft>
            </a:pPr>
            <a:r>
              <a:rPr lang="fr-FR" noProof="0" dirty="0" err="1"/>
              <a:t>Qinyan</a:t>
            </a:r>
            <a:r>
              <a:rPr lang="fr-FR" noProof="0" dirty="0"/>
              <a:t> YANG      Stage M2     Soutenance de stage — 2025</a:t>
            </a:r>
          </a:p>
        </p:txBody>
      </p:sp>
      <p:sp>
        <p:nvSpPr>
          <p:cNvPr id="5" name="灯片编号占位符 4">
            <a:extLst>
              <a:ext uri="{FF2B5EF4-FFF2-40B4-BE49-F238E27FC236}">
                <a16:creationId xmlns:a16="http://schemas.microsoft.com/office/drawing/2014/main" id="{431EE1AD-7BB4-DFD9-3C7B-5DD40FF2D531}"/>
              </a:ext>
            </a:extLst>
          </p:cNvPr>
          <p:cNvSpPr>
            <a:spLocks noGrp="1"/>
          </p:cNvSpPr>
          <p:nvPr>
            <p:ph type="sldNum" sz="quarter" idx="12"/>
          </p:nvPr>
        </p:nvSpPr>
        <p:spPr>
          <a:xfrm>
            <a:off x="8610600" y="6356350"/>
            <a:ext cx="2743200" cy="365125"/>
          </a:xfrm>
        </p:spPr>
        <p:txBody>
          <a:bodyPr>
            <a:normAutofit/>
          </a:bodyPr>
          <a:lstStyle/>
          <a:p>
            <a:pPr>
              <a:spcAft>
                <a:spcPts val="600"/>
              </a:spcAft>
            </a:pPr>
            <a:fld id="{02625CE3-65DB-4542-8AE7-F35D1171AFB5}" type="slidenum">
              <a:rPr lang="fr-FR" noProof="0" smtClean="0"/>
              <a:pPr>
                <a:spcAft>
                  <a:spcPts val="600"/>
                </a:spcAft>
              </a:pPr>
              <a:t>10</a:t>
            </a:fld>
            <a:endParaRPr lang="fr-FR" noProof="0" dirty="0"/>
          </a:p>
        </p:txBody>
      </p:sp>
      <p:sp>
        <p:nvSpPr>
          <p:cNvPr id="6" name="标题 40">
            <a:extLst>
              <a:ext uri="{FF2B5EF4-FFF2-40B4-BE49-F238E27FC236}">
                <a16:creationId xmlns:a16="http://schemas.microsoft.com/office/drawing/2014/main" id="{2F8566C8-8AEF-1D43-C00A-DE190C06440B}"/>
              </a:ext>
            </a:extLst>
          </p:cNvPr>
          <p:cNvSpPr>
            <a:spLocks noGrp="1"/>
          </p:cNvSpPr>
          <p:nvPr>
            <p:ph type="title"/>
          </p:nvPr>
        </p:nvSpPr>
        <p:spPr>
          <a:xfrm>
            <a:off x="838200" y="365125"/>
            <a:ext cx="10515600" cy="1325563"/>
          </a:xfrm>
        </p:spPr>
        <p:txBody>
          <a:bodyPr>
            <a:normAutofit/>
          </a:body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Validation du modèle: Cas test 1 (BR vs R)</a:t>
            </a:r>
            <a:endParaRPr lang="fr-FR" sz="3600" b="1" noProof="0" dirty="0"/>
          </a:p>
        </p:txBody>
      </p:sp>
      <p:sp>
        <p:nvSpPr>
          <p:cNvPr id="7" name="标题 1">
            <a:extLst>
              <a:ext uri="{FF2B5EF4-FFF2-40B4-BE49-F238E27FC236}">
                <a16:creationId xmlns:a16="http://schemas.microsoft.com/office/drawing/2014/main" id="{9546F473-59EF-E5F1-E8F0-7EEB9C88D3A9}"/>
              </a:ext>
            </a:extLst>
          </p:cNvPr>
          <p:cNvSpPr txBox="1">
            <a:spLocks/>
          </p:cNvSpPr>
          <p:nvPr/>
        </p:nvSpPr>
        <p:spPr>
          <a:xfrm>
            <a:off x="364072" y="1690688"/>
            <a:ext cx="1938528" cy="144841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200" noProof="0" dirty="0">
                <a:solidFill>
                  <a:schemeClr val="tx2"/>
                </a:solidFill>
                <a:latin typeface="Calibri" panose="020F0502020204030204" pitchFamily="34" charset="0"/>
                <a:ea typeface="Calibri" panose="020F0502020204030204" pitchFamily="34" charset="0"/>
                <a:cs typeface="Calibri" panose="020F0502020204030204" pitchFamily="34" charset="0"/>
              </a:rPr>
              <a:t>Profile</a:t>
            </a:r>
          </a:p>
          <a:p>
            <a:pPr algn="ctr"/>
            <a:r>
              <a:rPr lang="fr-FR" sz="3200" noProof="0" dirty="0">
                <a:solidFill>
                  <a:schemeClr val="tx2"/>
                </a:solidFill>
                <a:latin typeface="Calibri" panose="020F0502020204030204" pitchFamily="34" charset="0"/>
                <a:ea typeface="Calibri" panose="020F0502020204030204" pitchFamily="34" charset="0"/>
                <a:cs typeface="Calibri" panose="020F0502020204030204" pitchFamily="34" charset="0"/>
              </a:rPr>
              <a:t>de saturation</a:t>
            </a:r>
          </a:p>
        </p:txBody>
      </p:sp>
    </p:spTree>
    <p:extLst>
      <p:ext uri="{BB962C8B-B14F-4D97-AF65-F5344CB8AC3E}">
        <p14:creationId xmlns:p14="http://schemas.microsoft.com/office/powerpoint/2010/main" val="1286850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9" name="图片 8" descr="图表, 折线图&#10;&#10;AI 生成的内容可能不正确。">
            <a:extLst>
              <a:ext uri="{FF2B5EF4-FFF2-40B4-BE49-F238E27FC236}">
                <a16:creationId xmlns:a16="http://schemas.microsoft.com/office/drawing/2014/main" id="{AD0FBF53-2B7A-38C1-78A6-5F34637CEB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0315" y="2728806"/>
            <a:ext cx="5740570" cy="3091076"/>
          </a:xfrm>
          <a:prstGeom prst="rect">
            <a:avLst/>
          </a:prstGeom>
        </p:spPr>
      </p:pic>
      <p:pic>
        <p:nvPicPr>
          <p:cNvPr id="7" name="图片 6" descr="图表, 折线图&#10;&#10;AI 生成的内容可能不正确。">
            <a:extLst>
              <a:ext uri="{FF2B5EF4-FFF2-40B4-BE49-F238E27FC236}">
                <a16:creationId xmlns:a16="http://schemas.microsoft.com/office/drawing/2014/main" id="{394B5FBE-C4B7-81C2-BCA2-E19C1B5721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277" y="2728806"/>
            <a:ext cx="5740570" cy="3091076"/>
          </a:xfrm>
          <a:prstGeom prst="rect">
            <a:avLst/>
          </a:prstGeom>
        </p:spPr>
      </p:pic>
      <p:grpSp>
        <p:nvGrpSpPr>
          <p:cNvPr id="12" name="Group 11">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3" name="Freeform: Shape 12">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4" name="Freeform: Shape 13">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5" name="Freeform: Shape 14">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6" name="Freeform: Shape 15">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7" name="Freeform: Shape 16">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grpSp>
      <p:sp>
        <p:nvSpPr>
          <p:cNvPr id="4" name="页脚占位符 3">
            <a:extLst>
              <a:ext uri="{FF2B5EF4-FFF2-40B4-BE49-F238E27FC236}">
                <a16:creationId xmlns:a16="http://schemas.microsoft.com/office/drawing/2014/main" id="{9611D23E-6CA5-4062-97E9-89B39C98E5BA}"/>
              </a:ext>
            </a:extLst>
          </p:cNvPr>
          <p:cNvSpPr>
            <a:spLocks noGrp="1"/>
          </p:cNvSpPr>
          <p:nvPr>
            <p:ph type="ftr" sz="quarter" idx="11"/>
          </p:nvPr>
        </p:nvSpPr>
        <p:spPr>
          <a:xfrm>
            <a:off x="4038600" y="6356350"/>
            <a:ext cx="4114800" cy="365125"/>
          </a:xfrm>
        </p:spPr>
        <p:txBody>
          <a:bodyPr>
            <a:normAutofit/>
          </a:bodyPr>
          <a:lstStyle/>
          <a:p>
            <a:pPr>
              <a:spcAft>
                <a:spcPts val="600"/>
              </a:spcAft>
            </a:pPr>
            <a:r>
              <a:rPr lang="fr-FR" noProof="0" dirty="0" err="1"/>
              <a:t>Qinyan</a:t>
            </a:r>
            <a:r>
              <a:rPr lang="fr-FR" noProof="0" dirty="0"/>
              <a:t> YANG      Stage M2     Soutenance de stage — 2025</a:t>
            </a:r>
          </a:p>
        </p:txBody>
      </p:sp>
      <p:sp>
        <p:nvSpPr>
          <p:cNvPr id="5" name="灯片编号占位符 4">
            <a:extLst>
              <a:ext uri="{FF2B5EF4-FFF2-40B4-BE49-F238E27FC236}">
                <a16:creationId xmlns:a16="http://schemas.microsoft.com/office/drawing/2014/main" id="{9D1F9AC7-F16F-9C3D-5341-5BBDFBBCCC42}"/>
              </a:ext>
            </a:extLst>
          </p:cNvPr>
          <p:cNvSpPr>
            <a:spLocks noGrp="1"/>
          </p:cNvSpPr>
          <p:nvPr>
            <p:ph type="sldNum" sz="quarter" idx="12"/>
          </p:nvPr>
        </p:nvSpPr>
        <p:spPr>
          <a:xfrm>
            <a:off x="8610600" y="6356350"/>
            <a:ext cx="2743200" cy="365125"/>
          </a:xfrm>
        </p:spPr>
        <p:txBody>
          <a:bodyPr>
            <a:normAutofit/>
          </a:bodyPr>
          <a:lstStyle/>
          <a:p>
            <a:pPr>
              <a:spcAft>
                <a:spcPts val="600"/>
              </a:spcAft>
            </a:pPr>
            <a:fld id="{02625CE3-65DB-4542-8AE7-F35D1171AFB5}" type="slidenum">
              <a:rPr lang="fr-FR" noProof="0" smtClean="0"/>
              <a:pPr>
                <a:spcAft>
                  <a:spcPts val="600"/>
                </a:spcAft>
              </a:pPr>
              <a:t>11</a:t>
            </a:fld>
            <a:endParaRPr lang="fr-FR" noProof="0" dirty="0"/>
          </a:p>
        </p:txBody>
      </p:sp>
      <p:sp>
        <p:nvSpPr>
          <p:cNvPr id="6" name="标题 40">
            <a:extLst>
              <a:ext uri="{FF2B5EF4-FFF2-40B4-BE49-F238E27FC236}">
                <a16:creationId xmlns:a16="http://schemas.microsoft.com/office/drawing/2014/main" id="{243DA863-7507-9B5C-C8D1-CE6E1FDC530B}"/>
              </a:ext>
            </a:extLst>
          </p:cNvPr>
          <p:cNvSpPr>
            <a:spLocks noGrp="1"/>
          </p:cNvSpPr>
          <p:nvPr>
            <p:ph type="title"/>
          </p:nvPr>
        </p:nvSpPr>
        <p:spPr>
          <a:xfrm>
            <a:off x="838200" y="365125"/>
            <a:ext cx="10515600" cy="1325563"/>
          </a:xfrm>
        </p:spPr>
        <p:txBody>
          <a:bodyPr>
            <a:normAutofit/>
          </a:body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Validation du modèle: Cas test 1 (BR vs R)</a:t>
            </a:r>
            <a:endParaRPr lang="fr-FR" sz="3600" b="1" noProof="0" dirty="0"/>
          </a:p>
        </p:txBody>
      </p:sp>
      <p:sp>
        <p:nvSpPr>
          <p:cNvPr id="3" name="标题 1">
            <a:extLst>
              <a:ext uri="{FF2B5EF4-FFF2-40B4-BE49-F238E27FC236}">
                <a16:creationId xmlns:a16="http://schemas.microsoft.com/office/drawing/2014/main" id="{6AAB0107-B2FF-3732-2713-D5ED6196990E}"/>
              </a:ext>
            </a:extLst>
          </p:cNvPr>
          <p:cNvSpPr txBox="1">
            <a:spLocks/>
          </p:cNvSpPr>
          <p:nvPr/>
        </p:nvSpPr>
        <p:spPr>
          <a:xfrm>
            <a:off x="791167" y="1690688"/>
            <a:ext cx="3444334" cy="66417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200" noProof="0" dirty="0">
                <a:solidFill>
                  <a:schemeClr val="tx2"/>
                </a:solidFill>
                <a:latin typeface="Calibri" panose="020F0502020204030204" pitchFamily="34" charset="0"/>
                <a:ea typeface="Calibri" panose="020F0502020204030204" pitchFamily="34" charset="0"/>
                <a:cs typeface="Calibri" panose="020F0502020204030204" pitchFamily="34" charset="0"/>
              </a:rPr>
              <a:t>Niveau de nappe </a:t>
            </a:r>
          </a:p>
        </p:txBody>
      </p:sp>
    </p:spTree>
    <p:extLst>
      <p:ext uri="{BB962C8B-B14F-4D97-AF65-F5344CB8AC3E}">
        <p14:creationId xmlns:p14="http://schemas.microsoft.com/office/powerpoint/2010/main" val="3915092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8" name="图片 7" descr="图表, 折线图&#10;&#10;AI 生成的内容可能不正确。">
            <a:extLst>
              <a:ext uri="{FF2B5EF4-FFF2-40B4-BE49-F238E27FC236}">
                <a16:creationId xmlns:a16="http://schemas.microsoft.com/office/drawing/2014/main" id="{5D09D177-C271-666A-2352-7180788681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9977" y="1503007"/>
            <a:ext cx="6767223" cy="4463487"/>
          </a:xfrm>
          <a:prstGeom prst="rect">
            <a:avLst/>
          </a:prstGeom>
        </p:spPr>
      </p:pic>
      <p:grpSp>
        <p:nvGrpSpPr>
          <p:cNvPr id="12" name="Group 11">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3" name="Freeform: Shape 12">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4" name="Freeform: Shape 13">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5" name="Freeform: Shape 14">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6" name="Freeform: Shape 15">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7" name="Freeform: Shape 16">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grpSp>
      <p:sp>
        <p:nvSpPr>
          <p:cNvPr id="4" name="页脚占位符 3">
            <a:extLst>
              <a:ext uri="{FF2B5EF4-FFF2-40B4-BE49-F238E27FC236}">
                <a16:creationId xmlns:a16="http://schemas.microsoft.com/office/drawing/2014/main" id="{EE6BD8E6-2089-BADB-F355-89EE9DCC51F6}"/>
              </a:ext>
            </a:extLst>
          </p:cNvPr>
          <p:cNvSpPr>
            <a:spLocks noGrp="1"/>
          </p:cNvSpPr>
          <p:nvPr>
            <p:ph type="ftr" sz="quarter" idx="11"/>
          </p:nvPr>
        </p:nvSpPr>
        <p:spPr>
          <a:xfrm>
            <a:off x="4038600" y="6356350"/>
            <a:ext cx="4114800" cy="365125"/>
          </a:xfrm>
        </p:spPr>
        <p:txBody>
          <a:bodyPr>
            <a:normAutofit/>
          </a:bodyPr>
          <a:lstStyle/>
          <a:p>
            <a:pPr>
              <a:spcAft>
                <a:spcPts val="600"/>
              </a:spcAft>
            </a:pPr>
            <a:r>
              <a:rPr lang="fr-FR" noProof="0" dirty="0" err="1"/>
              <a:t>Qinyan</a:t>
            </a:r>
            <a:r>
              <a:rPr lang="fr-FR" noProof="0" dirty="0"/>
              <a:t> YANG      Stage M2     Soutenance de stage — 2025</a:t>
            </a:r>
          </a:p>
        </p:txBody>
      </p:sp>
      <p:sp>
        <p:nvSpPr>
          <p:cNvPr id="5" name="灯片编号占位符 4">
            <a:extLst>
              <a:ext uri="{FF2B5EF4-FFF2-40B4-BE49-F238E27FC236}">
                <a16:creationId xmlns:a16="http://schemas.microsoft.com/office/drawing/2014/main" id="{CB2C5442-52EE-A8A0-4293-2B9E9355CD3A}"/>
              </a:ext>
            </a:extLst>
          </p:cNvPr>
          <p:cNvSpPr>
            <a:spLocks noGrp="1"/>
          </p:cNvSpPr>
          <p:nvPr>
            <p:ph type="sldNum" sz="quarter" idx="12"/>
          </p:nvPr>
        </p:nvSpPr>
        <p:spPr>
          <a:xfrm>
            <a:off x="8610600" y="6356350"/>
            <a:ext cx="2743200" cy="365125"/>
          </a:xfrm>
        </p:spPr>
        <p:txBody>
          <a:bodyPr>
            <a:normAutofit/>
          </a:bodyPr>
          <a:lstStyle/>
          <a:p>
            <a:pPr>
              <a:spcAft>
                <a:spcPts val="600"/>
              </a:spcAft>
            </a:pPr>
            <a:fld id="{02625CE3-65DB-4542-8AE7-F35D1171AFB5}" type="slidenum">
              <a:rPr lang="fr-FR" noProof="0" smtClean="0"/>
              <a:pPr>
                <a:spcAft>
                  <a:spcPts val="600"/>
                </a:spcAft>
              </a:pPr>
              <a:t>12</a:t>
            </a:fld>
            <a:endParaRPr lang="fr-FR" noProof="0" dirty="0"/>
          </a:p>
        </p:txBody>
      </p:sp>
      <p:sp>
        <p:nvSpPr>
          <p:cNvPr id="6" name="标题 40">
            <a:extLst>
              <a:ext uri="{FF2B5EF4-FFF2-40B4-BE49-F238E27FC236}">
                <a16:creationId xmlns:a16="http://schemas.microsoft.com/office/drawing/2014/main" id="{5885722C-9584-526A-F7EC-36A86B875352}"/>
              </a:ext>
            </a:extLst>
          </p:cNvPr>
          <p:cNvSpPr>
            <a:spLocks noGrp="1"/>
          </p:cNvSpPr>
          <p:nvPr>
            <p:ph type="title"/>
          </p:nvPr>
        </p:nvSpPr>
        <p:spPr>
          <a:xfrm>
            <a:off x="838200" y="365125"/>
            <a:ext cx="10515600" cy="1325563"/>
          </a:xfrm>
        </p:spPr>
        <p:txBody>
          <a:bodyPr>
            <a:normAutofit/>
          </a:body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Validation du modèle: Cas test 1 (BR vs R)</a:t>
            </a:r>
            <a:endParaRPr lang="fr-FR" sz="3600" b="1" noProof="0" dirty="0"/>
          </a:p>
        </p:txBody>
      </p:sp>
      <p:sp>
        <p:nvSpPr>
          <p:cNvPr id="7" name="标题 1">
            <a:extLst>
              <a:ext uri="{FF2B5EF4-FFF2-40B4-BE49-F238E27FC236}">
                <a16:creationId xmlns:a16="http://schemas.microsoft.com/office/drawing/2014/main" id="{2E83A011-2F0D-3DB8-375E-96F843EED3E8}"/>
              </a:ext>
            </a:extLst>
          </p:cNvPr>
          <p:cNvSpPr txBox="1">
            <a:spLocks/>
          </p:cNvSpPr>
          <p:nvPr/>
        </p:nvSpPr>
        <p:spPr>
          <a:xfrm>
            <a:off x="791167" y="1690688"/>
            <a:ext cx="1388763" cy="66417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200" noProof="0" dirty="0">
                <a:solidFill>
                  <a:schemeClr val="tx2"/>
                </a:solidFill>
                <a:latin typeface="Calibri" panose="020F0502020204030204" pitchFamily="34" charset="0"/>
                <a:ea typeface="Calibri" panose="020F0502020204030204" pitchFamily="34" charset="0"/>
                <a:cs typeface="Calibri" panose="020F0502020204030204" pitchFamily="34" charset="0"/>
              </a:rPr>
              <a:t>Erreur</a:t>
            </a:r>
          </a:p>
        </p:txBody>
      </p:sp>
    </p:spTree>
    <p:extLst>
      <p:ext uri="{BB962C8B-B14F-4D97-AF65-F5344CB8AC3E}">
        <p14:creationId xmlns:p14="http://schemas.microsoft.com/office/powerpoint/2010/main" val="793573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9" name="图片 8" descr="图表, 折线图&#10;&#10;AI 生成的内容可能不正确。">
            <a:extLst>
              <a:ext uri="{FF2B5EF4-FFF2-40B4-BE49-F238E27FC236}">
                <a16:creationId xmlns:a16="http://schemas.microsoft.com/office/drawing/2014/main" id="{167DFF1A-EFE4-804C-F60B-40AFF35AEF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0998" y="2444948"/>
            <a:ext cx="4320000" cy="3240000"/>
          </a:xfrm>
          <a:prstGeom prst="rect">
            <a:avLst/>
          </a:prstGeom>
        </p:spPr>
      </p:pic>
      <p:pic>
        <p:nvPicPr>
          <p:cNvPr id="7" name="图片 6" descr="图表, 折线图&#10;&#10;AI 生成的内容可能不正确。">
            <a:extLst>
              <a:ext uri="{FF2B5EF4-FFF2-40B4-BE49-F238E27FC236}">
                <a16:creationId xmlns:a16="http://schemas.microsoft.com/office/drawing/2014/main" id="{A38D5FC0-5738-F7AE-FDA8-799DF5E25B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2250" y="2444948"/>
            <a:ext cx="4320000" cy="3240000"/>
          </a:xfrm>
          <a:prstGeom prst="rect">
            <a:avLst/>
          </a:prstGeom>
        </p:spPr>
      </p:pic>
      <p:grpSp>
        <p:nvGrpSpPr>
          <p:cNvPr id="12" name="Group 11">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3" name="Freeform: Shape 12">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4" name="Freeform: Shape 13">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5" name="Freeform: Shape 14">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6" name="Freeform: Shape 15">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7" name="Freeform: Shape 16">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grpSp>
      <p:sp>
        <p:nvSpPr>
          <p:cNvPr id="4" name="页脚占位符 3">
            <a:extLst>
              <a:ext uri="{FF2B5EF4-FFF2-40B4-BE49-F238E27FC236}">
                <a16:creationId xmlns:a16="http://schemas.microsoft.com/office/drawing/2014/main" id="{85740719-B9DD-2FB4-72D1-DFB8EE8ED2EA}"/>
              </a:ext>
            </a:extLst>
          </p:cNvPr>
          <p:cNvSpPr>
            <a:spLocks noGrp="1"/>
          </p:cNvSpPr>
          <p:nvPr>
            <p:ph type="ftr" sz="quarter" idx="11"/>
          </p:nvPr>
        </p:nvSpPr>
        <p:spPr>
          <a:xfrm>
            <a:off x="4038600" y="6356350"/>
            <a:ext cx="4114800" cy="365125"/>
          </a:xfrm>
        </p:spPr>
        <p:txBody>
          <a:bodyPr>
            <a:normAutofit/>
          </a:bodyPr>
          <a:lstStyle/>
          <a:p>
            <a:pPr>
              <a:spcAft>
                <a:spcPts val="600"/>
              </a:spcAft>
            </a:pPr>
            <a:r>
              <a:rPr lang="fr-FR" noProof="0" dirty="0" err="1"/>
              <a:t>Qinyan</a:t>
            </a:r>
            <a:r>
              <a:rPr lang="fr-FR" noProof="0" dirty="0"/>
              <a:t> YANG      Stage M2     Soutenance de stage — 2025</a:t>
            </a:r>
          </a:p>
        </p:txBody>
      </p:sp>
      <p:sp>
        <p:nvSpPr>
          <p:cNvPr id="5" name="灯片编号占位符 4">
            <a:extLst>
              <a:ext uri="{FF2B5EF4-FFF2-40B4-BE49-F238E27FC236}">
                <a16:creationId xmlns:a16="http://schemas.microsoft.com/office/drawing/2014/main" id="{1706D1C5-A126-AE55-A856-CE4BD4B9756F}"/>
              </a:ext>
            </a:extLst>
          </p:cNvPr>
          <p:cNvSpPr>
            <a:spLocks noGrp="1"/>
          </p:cNvSpPr>
          <p:nvPr>
            <p:ph type="sldNum" sz="quarter" idx="12"/>
          </p:nvPr>
        </p:nvSpPr>
        <p:spPr>
          <a:xfrm>
            <a:off x="8610600" y="6356350"/>
            <a:ext cx="2743200" cy="365125"/>
          </a:xfrm>
        </p:spPr>
        <p:txBody>
          <a:bodyPr>
            <a:normAutofit/>
          </a:bodyPr>
          <a:lstStyle/>
          <a:p>
            <a:pPr>
              <a:spcAft>
                <a:spcPts val="600"/>
              </a:spcAft>
            </a:pPr>
            <a:fld id="{02625CE3-65DB-4542-8AE7-F35D1171AFB5}" type="slidenum">
              <a:rPr lang="fr-FR" noProof="0" smtClean="0"/>
              <a:pPr>
                <a:spcAft>
                  <a:spcPts val="600"/>
                </a:spcAft>
              </a:pPr>
              <a:t>13</a:t>
            </a:fld>
            <a:endParaRPr lang="fr-FR" noProof="0" dirty="0"/>
          </a:p>
        </p:txBody>
      </p:sp>
      <p:sp>
        <p:nvSpPr>
          <p:cNvPr id="6" name="标题 40">
            <a:extLst>
              <a:ext uri="{FF2B5EF4-FFF2-40B4-BE49-F238E27FC236}">
                <a16:creationId xmlns:a16="http://schemas.microsoft.com/office/drawing/2014/main" id="{C0B2D708-4EF6-BF4C-0676-7FC4DE8B4560}"/>
              </a:ext>
            </a:extLst>
          </p:cNvPr>
          <p:cNvSpPr>
            <a:spLocks noGrp="1"/>
          </p:cNvSpPr>
          <p:nvPr>
            <p:ph type="title"/>
          </p:nvPr>
        </p:nvSpPr>
        <p:spPr>
          <a:xfrm>
            <a:off x="838200" y="365125"/>
            <a:ext cx="10515600" cy="1325563"/>
          </a:xfrm>
        </p:spPr>
        <p:txBody>
          <a:bodyPr>
            <a:normAutofit/>
          </a:body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Validation du modèle: Cas test 1 (BR vs R)</a:t>
            </a:r>
            <a:endParaRPr lang="fr-FR" sz="3600" b="1" noProof="0" dirty="0"/>
          </a:p>
        </p:txBody>
      </p:sp>
      <p:sp>
        <p:nvSpPr>
          <p:cNvPr id="2" name="标题 1">
            <a:extLst>
              <a:ext uri="{FF2B5EF4-FFF2-40B4-BE49-F238E27FC236}">
                <a16:creationId xmlns:a16="http://schemas.microsoft.com/office/drawing/2014/main" id="{49CD0D0C-B156-72B0-29AE-29DDD944B3AE}"/>
              </a:ext>
            </a:extLst>
          </p:cNvPr>
          <p:cNvSpPr txBox="1">
            <a:spLocks/>
          </p:cNvSpPr>
          <p:nvPr/>
        </p:nvSpPr>
        <p:spPr>
          <a:xfrm>
            <a:off x="89072" y="1445302"/>
            <a:ext cx="3210249" cy="664178"/>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200" noProof="0" dirty="0">
                <a:solidFill>
                  <a:schemeClr val="tx2"/>
                </a:solidFill>
                <a:latin typeface="Calibri" panose="020F0502020204030204" pitchFamily="34" charset="0"/>
                <a:ea typeface="Calibri" panose="020F0502020204030204" pitchFamily="34" charset="0"/>
                <a:cs typeface="Calibri" panose="020F0502020204030204" pitchFamily="34" charset="0"/>
              </a:rPr>
              <a:t>Débit sortant</a:t>
            </a:r>
          </a:p>
        </p:txBody>
      </p:sp>
    </p:spTree>
    <p:extLst>
      <p:ext uri="{BB962C8B-B14F-4D97-AF65-F5344CB8AC3E}">
        <p14:creationId xmlns:p14="http://schemas.microsoft.com/office/powerpoint/2010/main" val="491409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18" name="图片 17" descr="图表, 直方图&#10;&#10;AI 生成的内容可能不正确。">
            <a:extLst>
              <a:ext uri="{FF2B5EF4-FFF2-40B4-BE49-F238E27FC236}">
                <a16:creationId xmlns:a16="http://schemas.microsoft.com/office/drawing/2014/main" id="{27095977-BF6F-C53E-BC6F-A5A1968E7F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5482" y="2628421"/>
            <a:ext cx="4389129" cy="3291847"/>
          </a:xfrm>
          <a:prstGeom prst="rect">
            <a:avLst/>
          </a:prstGeom>
        </p:spPr>
      </p:pic>
      <p:pic>
        <p:nvPicPr>
          <p:cNvPr id="9" name="图片 8" descr="图表, 直方图&#10;&#10;AI 生成的内容可能不正确。">
            <a:extLst>
              <a:ext uri="{FF2B5EF4-FFF2-40B4-BE49-F238E27FC236}">
                <a16:creationId xmlns:a16="http://schemas.microsoft.com/office/drawing/2014/main" id="{6203D89B-1B53-C912-0033-9F29BC0547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6885" y="2628421"/>
            <a:ext cx="4389129" cy="3291847"/>
          </a:xfrm>
          <a:prstGeom prst="rect">
            <a:avLst/>
          </a:prstGeom>
        </p:spPr>
      </p:pic>
      <p:grpSp>
        <p:nvGrpSpPr>
          <p:cNvPr id="12" name="Group 11">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3" name="Freeform: Shape 12">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4" name="Freeform: Shape 13">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5" name="Freeform: Shape 14">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6" name="Freeform: Shape 15">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7" name="Freeform: Shape 16">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grpSp>
      <p:sp>
        <p:nvSpPr>
          <p:cNvPr id="4" name="页脚占位符 3">
            <a:extLst>
              <a:ext uri="{FF2B5EF4-FFF2-40B4-BE49-F238E27FC236}">
                <a16:creationId xmlns:a16="http://schemas.microsoft.com/office/drawing/2014/main" id="{3157955F-9409-A2E9-DBAE-E1DB1F8255F4}"/>
              </a:ext>
            </a:extLst>
          </p:cNvPr>
          <p:cNvSpPr>
            <a:spLocks noGrp="1"/>
          </p:cNvSpPr>
          <p:nvPr>
            <p:ph type="ftr" sz="quarter" idx="11"/>
          </p:nvPr>
        </p:nvSpPr>
        <p:spPr>
          <a:xfrm>
            <a:off x="4038600" y="6356350"/>
            <a:ext cx="4114800" cy="365125"/>
          </a:xfrm>
        </p:spPr>
        <p:txBody>
          <a:bodyPr>
            <a:normAutofit/>
          </a:bodyPr>
          <a:lstStyle/>
          <a:p>
            <a:pPr>
              <a:spcAft>
                <a:spcPts val="600"/>
              </a:spcAft>
            </a:pPr>
            <a:r>
              <a:rPr lang="fr-FR" noProof="0" dirty="0" err="1"/>
              <a:t>Qinyan</a:t>
            </a:r>
            <a:r>
              <a:rPr lang="fr-FR" noProof="0" dirty="0"/>
              <a:t> YANG      Stage M2     Soutenance de stage — 2025</a:t>
            </a:r>
          </a:p>
        </p:txBody>
      </p:sp>
      <p:sp>
        <p:nvSpPr>
          <p:cNvPr id="5" name="灯片编号占位符 4">
            <a:extLst>
              <a:ext uri="{FF2B5EF4-FFF2-40B4-BE49-F238E27FC236}">
                <a16:creationId xmlns:a16="http://schemas.microsoft.com/office/drawing/2014/main" id="{5B18736E-9521-9003-2060-62B39C4214C8}"/>
              </a:ext>
            </a:extLst>
          </p:cNvPr>
          <p:cNvSpPr>
            <a:spLocks noGrp="1"/>
          </p:cNvSpPr>
          <p:nvPr>
            <p:ph type="sldNum" sz="quarter" idx="12"/>
          </p:nvPr>
        </p:nvSpPr>
        <p:spPr>
          <a:xfrm>
            <a:off x="8610600" y="6356350"/>
            <a:ext cx="2743200" cy="365125"/>
          </a:xfrm>
        </p:spPr>
        <p:txBody>
          <a:bodyPr>
            <a:normAutofit/>
          </a:bodyPr>
          <a:lstStyle/>
          <a:p>
            <a:pPr>
              <a:spcAft>
                <a:spcPts val="600"/>
              </a:spcAft>
            </a:pPr>
            <a:fld id="{02625CE3-65DB-4542-8AE7-F35D1171AFB5}" type="slidenum">
              <a:rPr lang="fr-FR" noProof="0" smtClean="0"/>
              <a:pPr>
                <a:spcAft>
                  <a:spcPts val="600"/>
                </a:spcAft>
              </a:pPr>
              <a:t>14</a:t>
            </a:fld>
            <a:endParaRPr lang="fr-FR" noProof="0" dirty="0"/>
          </a:p>
        </p:txBody>
      </p:sp>
      <p:sp>
        <p:nvSpPr>
          <p:cNvPr id="2" name="标题 1">
            <a:extLst>
              <a:ext uri="{FF2B5EF4-FFF2-40B4-BE49-F238E27FC236}">
                <a16:creationId xmlns:a16="http://schemas.microsoft.com/office/drawing/2014/main" id="{B2176276-FD0B-885B-CCEF-F83748463ADB}"/>
              </a:ext>
            </a:extLst>
          </p:cNvPr>
          <p:cNvSpPr>
            <a:spLocks noGrp="1"/>
          </p:cNvSpPr>
          <p:nvPr>
            <p:ph type="title"/>
          </p:nvPr>
        </p:nvSpPr>
        <p:spPr>
          <a:xfrm>
            <a:off x="791166" y="1690688"/>
            <a:ext cx="3129781" cy="664178"/>
          </a:xfrm>
        </p:spPr>
        <p:txBody>
          <a:bodyPr vert="horz" lIns="91440" tIns="45720" rIns="91440" bIns="45720" rtlCol="0" anchor="b">
            <a:normAutofit/>
          </a:bodyPr>
          <a:lstStyle/>
          <a:p>
            <a:pPr algn="ctr"/>
            <a:r>
              <a:rPr lang="fr-FR" sz="3200" kern="1200" noProof="0" dirty="0">
                <a:solidFill>
                  <a:schemeClr val="tx2"/>
                </a:solidFill>
                <a:latin typeface="Calibri" panose="020F0502020204030204" pitchFamily="34" charset="0"/>
                <a:ea typeface="Calibri" panose="020F0502020204030204" pitchFamily="34" charset="0"/>
                <a:cs typeface="Calibri" panose="020F0502020204030204" pitchFamily="34" charset="0"/>
              </a:rPr>
              <a:t>Recharge r</a:t>
            </a:r>
            <a:r>
              <a:rPr lang="fr-FR" sz="3200" noProof="0" dirty="0">
                <a:solidFill>
                  <a:schemeClr val="tx2"/>
                </a:solidFill>
                <a:latin typeface="Calibri" panose="020F0502020204030204" pitchFamily="34" charset="0"/>
                <a:ea typeface="Calibri" panose="020F0502020204030204" pitchFamily="34" charset="0"/>
                <a:cs typeface="Calibri" panose="020F0502020204030204" pitchFamily="34" charset="0"/>
              </a:rPr>
              <a:t>éaliste</a:t>
            </a:r>
            <a:endParaRPr lang="fr-FR" sz="3200" kern="1200" noProof="0"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3" name="标题 40">
            <a:extLst>
              <a:ext uri="{FF2B5EF4-FFF2-40B4-BE49-F238E27FC236}">
                <a16:creationId xmlns:a16="http://schemas.microsoft.com/office/drawing/2014/main" id="{55A83B7D-7A9C-96FF-B75E-AD600D1476AF}"/>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Validation du modèle: Cas test 2 (BR vs R)</a:t>
            </a:r>
            <a:endParaRPr lang="fr-FR" sz="3600" b="1" noProof="0" dirty="0"/>
          </a:p>
        </p:txBody>
      </p:sp>
    </p:spTree>
    <p:extLst>
      <p:ext uri="{BB962C8B-B14F-4D97-AF65-F5344CB8AC3E}">
        <p14:creationId xmlns:p14="http://schemas.microsoft.com/office/powerpoint/2010/main" val="523003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7" name="Rectangle 36">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noProof="0" dirty="0"/>
          </a:p>
        </p:txBody>
      </p:sp>
      <p:pic>
        <p:nvPicPr>
          <p:cNvPr id="3" name="图片 2">
            <a:extLst>
              <a:ext uri="{FF2B5EF4-FFF2-40B4-BE49-F238E27FC236}">
                <a16:creationId xmlns:a16="http://schemas.microsoft.com/office/drawing/2014/main" id="{2E9B272B-3D70-B1F9-30BD-21FD0F4D1EA8}"/>
              </a:ext>
            </a:extLst>
          </p:cNvPr>
          <p:cNvPicPr>
            <a:picLocks noChangeAspect="1"/>
          </p:cNvPicPr>
          <p:nvPr/>
        </p:nvPicPr>
        <p:blipFill>
          <a:blip r:embed="rId5"/>
          <a:stretch>
            <a:fillRect/>
          </a:stretch>
        </p:blipFill>
        <p:spPr>
          <a:xfrm>
            <a:off x="4410664" y="5853297"/>
            <a:ext cx="3370672" cy="177850"/>
          </a:xfrm>
          <a:prstGeom prst="rect">
            <a:avLst/>
          </a:prstGeom>
        </p:spPr>
      </p:pic>
      <p:pic>
        <p:nvPicPr>
          <p:cNvPr id="9" name="video1">
            <a:hlinkClick r:id="" action="ppaction://media"/>
            <a:extLst>
              <a:ext uri="{FF2B5EF4-FFF2-40B4-BE49-F238E27FC236}">
                <a16:creationId xmlns:a16="http://schemas.microsoft.com/office/drawing/2014/main" id="{97F1C32B-48DA-3A76-7031-3AD1D7D4F573}"/>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3558267" y="2418182"/>
            <a:ext cx="5057699" cy="3371799"/>
          </a:xfrm>
          <a:prstGeom prst="rect">
            <a:avLst/>
          </a:prstGeom>
        </p:spPr>
      </p:pic>
      <p:grpSp>
        <p:nvGrpSpPr>
          <p:cNvPr id="39" name="Group 38">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40" name="Freeform: Shape 39">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41" name="Freeform: Shape 40">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42" name="Freeform: Shape 41">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43" name="Freeform: Shape 42">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44" name="Freeform: Shape 43">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45" name="Freeform: Shape 44">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46" name="Freeform: Shape 45">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solidFill>
                  <a:schemeClr val="lt1"/>
                </a:solidFill>
              </a:endParaRPr>
            </a:p>
          </p:txBody>
        </p:sp>
      </p:grpSp>
      <p:sp>
        <p:nvSpPr>
          <p:cNvPr id="4" name="页脚占位符 3">
            <a:extLst>
              <a:ext uri="{FF2B5EF4-FFF2-40B4-BE49-F238E27FC236}">
                <a16:creationId xmlns:a16="http://schemas.microsoft.com/office/drawing/2014/main" id="{C164FC9A-8F1C-87A9-3F07-EEC001AFFE2D}"/>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fr-FR" kern="1200" noProof="0" dirty="0" err="1">
                <a:solidFill>
                  <a:schemeClr val="tx1">
                    <a:tint val="75000"/>
                  </a:schemeClr>
                </a:solidFill>
                <a:latin typeface="+mn-lt"/>
                <a:ea typeface="+mn-ea"/>
                <a:cs typeface="+mn-cs"/>
              </a:rPr>
              <a:t>Qinyan</a:t>
            </a:r>
            <a:r>
              <a:rPr lang="fr-FR" kern="1200" noProof="0" dirty="0">
                <a:solidFill>
                  <a:schemeClr val="tx1">
                    <a:tint val="75000"/>
                  </a:schemeClr>
                </a:solidFill>
                <a:latin typeface="+mn-lt"/>
                <a:ea typeface="+mn-ea"/>
                <a:cs typeface="+mn-cs"/>
              </a:rPr>
              <a:t> YANG      Stage M2     Soutenance de stage — 2025</a:t>
            </a:r>
          </a:p>
        </p:txBody>
      </p:sp>
      <p:sp>
        <p:nvSpPr>
          <p:cNvPr id="5" name="灯片编号占位符 4">
            <a:extLst>
              <a:ext uri="{FF2B5EF4-FFF2-40B4-BE49-F238E27FC236}">
                <a16:creationId xmlns:a16="http://schemas.microsoft.com/office/drawing/2014/main" id="{33B4B7F8-C07A-AC31-9859-E2457A86D1B9}"/>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02625CE3-65DB-4542-8AE7-F35D1171AFB5}" type="slidenum">
              <a:rPr lang="fr-FR" noProof="0" smtClean="0">
                <a:solidFill>
                  <a:schemeClr val="tx1">
                    <a:tint val="75000"/>
                  </a:schemeClr>
                </a:solidFill>
              </a:rPr>
              <a:pPr>
                <a:spcAft>
                  <a:spcPts val="600"/>
                </a:spcAft>
              </a:pPr>
              <a:t>15</a:t>
            </a:fld>
            <a:endParaRPr lang="fr-FR" noProof="0" dirty="0">
              <a:solidFill>
                <a:schemeClr val="tx1">
                  <a:tint val="75000"/>
                </a:schemeClr>
              </a:solidFill>
            </a:endParaRPr>
          </a:p>
        </p:txBody>
      </p:sp>
      <p:sp>
        <p:nvSpPr>
          <p:cNvPr id="6" name="标题 40">
            <a:extLst>
              <a:ext uri="{FF2B5EF4-FFF2-40B4-BE49-F238E27FC236}">
                <a16:creationId xmlns:a16="http://schemas.microsoft.com/office/drawing/2014/main" id="{EC850B1C-5C86-E958-AD84-2ECCC2445B70}"/>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Validation du modèle: Cas test 2 (BR vs R)</a:t>
            </a:r>
            <a:endParaRPr lang="fr-FR" sz="3600" b="1" noProof="0" dirty="0"/>
          </a:p>
        </p:txBody>
      </p:sp>
      <p:sp>
        <p:nvSpPr>
          <p:cNvPr id="7" name="标题 1">
            <a:extLst>
              <a:ext uri="{FF2B5EF4-FFF2-40B4-BE49-F238E27FC236}">
                <a16:creationId xmlns:a16="http://schemas.microsoft.com/office/drawing/2014/main" id="{99DE400A-4EEF-9AF2-5ED4-2535A7643802}"/>
              </a:ext>
            </a:extLst>
          </p:cNvPr>
          <p:cNvSpPr>
            <a:spLocks noGrp="1"/>
          </p:cNvSpPr>
          <p:nvPr>
            <p:ph type="title"/>
          </p:nvPr>
        </p:nvSpPr>
        <p:spPr>
          <a:xfrm>
            <a:off x="791167" y="1690688"/>
            <a:ext cx="4161224" cy="664178"/>
          </a:xfrm>
        </p:spPr>
        <p:txBody>
          <a:bodyPr vert="horz" lIns="91440" tIns="45720" rIns="91440" bIns="45720" rtlCol="0" anchor="b">
            <a:normAutofit/>
          </a:bodyPr>
          <a:lstStyle/>
          <a:p>
            <a:pPr algn="ctr"/>
            <a:r>
              <a:rPr lang="fr-FR" sz="3200" noProof="0" dirty="0">
                <a:solidFill>
                  <a:schemeClr val="tx2"/>
                </a:solidFill>
                <a:latin typeface="Calibri" panose="020F0502020204030204" pitchFamily="34" charset="0"/>
                <a:ea typeface="Calibri" panose="020F0502020204030204" pitchFamily="34" charset="0"/>
                <a:cs typeface="Calibri" panose="020F0502020204030204" pitchFamily="34" charset="0"/>
              </a:rPr>
              <a:t>Simulation du Cas test 2</a:t>
            </a:r>
            <a:endParaRPr lang="fr-FR" sz="3200" kern="1200" noProof="0"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pic>
        <p:nvPicPr>
          <p:cNvPr id="12" name="图片 11">
            <a:extLst>
              <a:ext uri="{FF2B5EF4-FFF2-40B4-BE49-F238E27FC236}">
                <a16:creationId xmlns:a16="http://schemas.microsoft.com/office/drawing/2014/main" id="{30812DD2-0F26-EECA-B6DC-CDA2BF7EEAE2}"/>
              </a:ext>
            </a:extLst>
          </p:cNvPr>
          <p:cNvPicPr>
            <a:picLocks noChangeAspect="1"/>
          </p:cNvPicPr>
          <p:nvPr/>
        </p:nvPicPr>
        <p:blipFill>
          <a:blip r:embed="rId7"/>
          <a:stretch>
            <a:fillRect/>
          </a:stretch>
        </p:blipFill>
        <p:spPr>
          <a:xfrm>
            <a:off x="3343478" y="2473337"/>
            <a:ext cx="238916" cy="1911325"/>
          </a:xfrm>
          <a:prstGeom prst="rect">
            <a:avLst/>
          </a:prstGeom>
        </p:spPr>
      </p:pic>
    </p:spTree>
    <p:extLst>
      <p:ext uri="{BB962C8B-B14F-4D97-AF65-F5344CB8AC3E}">
        <p14:creationId xmlns:p14="http://schemas.microsoft.com/office/powerpoint/2010/main" val="2432803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3546"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59184">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39">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4" name="Rectangle 41">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noProof="0" dirty="0"/>
          </a:p>
        </p:txBody>
      </p:sp>
      <p:pic>
        <p:nvPicPr>
          <p:cNvPr id="3" name="图片 2" descr="图表, 折线图&#10;&#10;AI 生成的内容可能不正确。">
            <a:extLst>
              <a:ext uri="{FF2B5EF4-FFF2-40B4-BE49-F238E27FC236}">
                <a16:creationId xmlns:a16="http://schemas.microsoft.com/office/drawing/2014/main" id="{BC31C544-FA61-2E63-A597-7D93F47826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4490" y="2022777"/>
            <a:ext cx="5852172" cy="4389129"/>
          </a:xfrm>
          <a:prstGeom prst="rect">
            <a:avLst/>
          </a:prstGeom>
        </p:spPr>
      </p:pic>
      <p:grpSp>
        <p:nvGrpSpPr>
          <p:cNvPr id="55" name="Group 43">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56" name="Freeform: Shape 44">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57" name="Freeform: Shape 45">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58" name="Freeform: Shape 46">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59" name="Freeform: Shape 47">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60" name="Freeform: Shape 48">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61" name="Freeform: Shape 49">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62" name="Freeform: Shape 50">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solidFill>
                  <a:schemeClr val="lt1"/>
                </a:solidFill>
              </a:endParaRPr>
            </a:p>
          </p:txBody>
        </p:sp>
      </p:grpSp>
      <p:sp>
        <p:nvSpPr>
          <p:cNvPr id="4" name="页脚占位符 3">
            <a:extLst>
              <a:ext uri="{FF2B5EF4-FFF2-40B4-BE49-F238E27FC236}">
                <a16:creationId xmlns:a16="http://schemas.microsoft.com/office/drawing/2014/main" id="{4C604715-2EF4-C4CC-38EC-7E92D1021EE4}"/>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fr-FR" kern="1200" noProof="0" dirty="0" err="1">
                <a:solidFill>
                  <a:schemeClr val="tx1">
                    <a:tint val="75000"/>
                  </a:schemeClr>
                </a:solidFill>
                <a:latin typeface="+mn-lt"/>
                <a:ea typeface="+mn-ea"/>
                <a:cs typeface="+mn-cs"/>
              </a:rPr>
              <a:t>Qinyan</a:t>
            </a:r>
            <a:r>
              <a:rPr lang="fr-FR" kern="1200" noProof="0" dirty="0">
                <a:solidFill>
                  <a:schemeClr val="tx1">
                    <a:tint val="75000"/>
                  </a:schemeClr>
                </a:solidFill>
                <a:latin typeface="+mn-lt"/>
                <a:ea typeface="+mn-ea"/>
                <a:cs typeface="+mn-cs"/>
              </a:rPr>
              <a:t> YANG      Stage M2     Soutenance de stage — 2025</a:t>
            </a:r>
          </a:p>
        </p:txBody>
      </p:sp>
      <p:sp>
        <p:nvSpPr>
          <p:cNvPr id="5" name="灯片编号占位符 4">
            <a:extLst>
              <a:ext uri="{FF2B5EF4-FFF2-40B4-BE49-F238E27FC236}">
                <a16:creationId xmlns:a16="http://schemas.microsoft.com/office/drawing/2014/main" id="{FC882CD2-9E0B-CB85-A473-F5D0677F21A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02625CE3-65DB-4542-8AE7-F35D1171AFB5}" type="slidenum">
              <a:rPr lang="fr-FR" noProof="0" smtClean="0">
                <a:solidFill>
                  <a:schemeClr val="tx1">
                    <a:tint val="75000"/>
                  </a:schemeClr>
                </a:solidFill>
              </a:rPr>
              <a:pPr>
                <a:spcAft>
                  <a:spcPts val="600"/>
                </a:spcAft>
              </a:pPr>
              <a:t>16</a:t>
            </a:fld>
            <a:endParaRPr lang="fr-FR" noProof="0" dirty="0">
              <a:solidFill>
                <a:schemeClr val="tx1">
                  <a:tint val="75000"/>
                </a:schemeClr>
              </a:solidFill>
            </a:endParaRPr>
          </a:p>
        </p:txBody>
      </p:sp>
      <p:sp>
        <p:nvSpPr>
          <p:cNvPr id="6" name="标题 40">
            <a:extLst>
              <a:ext uri="{FF2B5EF4-FFF2-40B4-BE49-F238E27FC236}">
                <a16:creationId xmlns:a16="http://schemas.microsoft.com/office/drawing/2014/main" id="{0AC00E97-F62D-C30A-2B21-28A13052F7FE}"/>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Validation du modèle: Cas test 2 (BR vs R)</a:t>
            </a:r>
            <a:endParaRPr lang="fr-FR" sz="3600" b="1" noProof="0" dirty="0"/>
          </a:p>
        </p:txBody>
      </p:sp>
      <p:sp>
        <p:nvSpPr>
          <p:cNvPr id="13" name="标题 1">
            <a:extLst>
              <a:ext uri="{FF2B5EF4-FFF2-40B4-BE49-F238E27FC236}">
                <a16:creationId xmlns:a16="http://schemas.microsoft.com/office/drawing/2014/main" id="{D4F3A4AA-07DD-3330-8F2C-912B366929B0}"/>
              </a:ext>
            </a:extLst>
          </p:cNvPr>
          <p:cNvSpPr>
            <a:spLocks noGrp="1"/>
          </p:cNvSpPr>
          <p:nvPr>
            <p:ph type="title"/>
          </p:nvPr>
        </p:nvSpPr>
        <p:spPr>
          <a:xfrm>
            <a:off x="791166" y="1690688"/>
            <a:ext cx="2639663" cy="664178"/>
          </a:xfrm>
        </p:spPr>
        <p:txBody>
          <a:bodyPr vert="horz" lIns="91440" tIns="45720" rIns="91440" bIns="45720" rtlCol="0" anchor="b">
            <a:normAutofit/>
          </a:bodyPr>
          <a:lstStyle/>
          <a:p>
            <a:pPr algn="ctr"/>
            <a:r>
              <a:rPr lang="fr-FR" sz="3200" noProof="0" dirty="0">
                <a:solidFill>
                  <a:schemeClr val="tx2"/>
                </a:solidFill>
                <a:latin typeface="Calibri" panose="020F0502020204030204" pitchFamily="34" charset="0"/>
                <a:ea typeface="Calibri" panose="020F0502020204030204" pitchFamily="34" charset="0"/>
                <a:cs typeface="Calibri" panose="020F0502020204030204" pitchFamily="34" charset="0"/>
              </a:rPr>
              <a:t>Débit sortant</a:t>
            </a:r>
            <a:endParaRPr lang="fr-FR" sz="3200" kern="1200" noProof="0"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121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2" name="Rectangle 11">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noProof="0" dirty="0"/>
          </a:p>
        </p:txBody>
      </p:sp>
      <p:pic>
        <p:nvPicPr>
          <p:cNvPr id="8" name="图片 7" descr="图表, 折线图&#10;&#10;AI 生成的内容可能不正确。">
            <a:extLst>
              <a:ext uri="{FF2B5EF4-FFF2-40B4-BE49-F238E27FC236}">
                <a16:creationId xmlns:a16="http://schemas.microsoft.com/office/drawing/2014/main" id="{A9CD8501-6540-274B-B51A-45B39C3699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8428" y="2445540"/>
            <a:ext cx="5852172" cy="3657607"/>
          </a:xfrm>
          <a:prstGeom prst="rect">
            <a:avLst/>
          </a:prstGeom>
        </p:spPr>
      </p:pic>
      <p:grpSp>
        <p:nvGrpSpPr>
          <p:cNvPr id="14" name="Group 13">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15" name="Freeform: Shape 14">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6" name="Freeform: Shape 15">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7" name="Freeform: Shape 16">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8" name="Freeform: Shape 17">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9" name="Freeform: Shape 18">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20" name="Freeform: Shape 19">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21" name="Freeform: Shape 20">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solidFill>
                  <a:schemeClr val="lt1"/>
                </a:solidFill>
              </a:endParaRPr>
            </a:p>
          </p:txBody>
        </p:sp>
      </p:grpSp>
      <p:sp>
        <p:nvSpPr>
          <p:cNvPr id="4" name="页脚占位符 3">
            <a:extLst>
              <a:ext uri="{FF2B5EF4-FFF2-40B4-BE49-F238E27FC236}">
                <a16:creationId xmlns:a16="http://schemas.microsoft.com/office/drawing/2014/main" id="{9A633ABC-6E22-6E1C-2BDC-85DE7592A6D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fr-FR" kern="1200" noProof="0" dirty="0" err="1">
                <a:solidFill>
                  <a:schemeClr val="tx1">
                    <a:tint val="75000"/>
                  </a:schemeClr>
                </a:solidFill>
                <a:latin typeface="+mn-lt"/>
                <a:ea typeface="+mn-ea"/>
                <a:cs typeface="+mn-cs"/>
              </a:rPr>
              <a:t>Qinyan</a:t>
            </a:r>
            <a:r>
              <a:rPr lang="fr-FR" kern="1200" noProof="0" dirty="0">
                <a:solidFill>
                  <a:schemeClr val="tx1">
                    <a:tint val="75000"/>
                  </a:schemeClr>
                </a:solidFill>
                <a:latin typeface="+mn-lt"/>
                <a:ea typeface="+mn-ea"/>
                <a:cs typeface="+mn-cs"/>
              </a:rPr>
              <a:t> YANG      Stage M2     Soutenance de stage — 2025</a:t>
            </a:r>
          </a:p>
        </p:txBody>
      </p:sp>
      <p:sp>
        <p:nvSpPr>
          <p:cNvPr id="5" name="灯片编号占位符 4">
            <a:extLst>
              <a:ext uri="{FF2B5EF4-FFF2-40B4-BE49-F238E27FC236}">
                <a16:creationId xmlns:a16="http://schemas.microsoft.com/office/drawing/2014/main" id="{373271D9-8F52-2687-102C-8CA360F34F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02625CE3-65DB-4542-8AE7-F35D1171AFB5}" type="slidenum">
              <a:rPr lang="fr-FR" noProof="0" smtClean="0">
                <a:solidFill>
                  <a:schemeClr val="tx1">
                    <a:tint val="75000"/>
                  </a:schemeClr>
                </a:solidFill>
              </a:rPr>
              <a:pPr>
                <a:spcAft>
                  <a:spcPts val="600"/>
                </a:spcAft>
              </a:pPr>
              <a:t>17</a:t>
            </a:fld>
            <a:endParaRPr lang="fr-FR" noProof="0" dirty="0">
              <a:solidFill>
                <a:schemeClr val="tx1">
                  <a:tint val="75000"/>
                </a:schemeClr>
              </a:solidFill>
            </a:endParaRPr>
          </a:p>
        </p:txBody>
      </p:sp>
      <p:sp>
        <p:nvSpPr>
          <p:cNvPr id="6" name="标题 40">
            <a:extLst>
              <a:ext uri="{FF2B5EF4-FFF2-40B4-BE49-F238E27FC236}">
                <a16:creationId xmlns:a16="http://schemas.microsoft.com/office/drawing/2014/main" id="{6110C735-989A-3F8E-E126-A4FA4EF970E2}"/>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Validation du modèle: Cas test 2 (BR vs R)</a:t>
            </a:r>
            <a:endParaRPr lang="fr-FR" sz="3600" b="1" noProof="0" dirty="0"/>
          </a:p>
        </p:txBody>
      </p:sp>
      <p:sp>
        <p:nvSpPr>
          <p:cNvPr id="9" name="标题 1">
            <a:extLst>
              <a:ext uri="{FF2B5EF4-FFF2-40B4-BE49-F238E27FC236}">
                <a16:creationId xmlns:a16="http://schemas.microsoft.com/office/drawing/2014/main" id="{72D5C95F-05A6-9AB5-5D8A-EE4508144C0C}"/>
              </a:ext>
            </a:extLst>
          </p:cNvPr>
          <p:cNvSpPr>
            <a:spLocks noGrp="1"/>
          </p:cNvSpPr>
          <p:nvPr>
            <p:ph type="title"/>
          </p:nvPr>
        </p:nvSpPr>
        <p:spPr>
          <a:xfrm>
            <a:off x="791167" y="1690688"/>
            <a:ext cx="4780474" cy="664178"/>
          </a:xfrm>
        </p:spPr>
        <p:txBody>
          <a:bodyPr vert="horz" lIns="91440" tIns="45720" rIns="91440" bIns="45720" rtlCol="0" anchor="b">
            <a:normAutofit fontScale="90000"/>
          </a:bodyPr>
          <a:lstStyle/>
          <a:p>
            <a:pPr algn="ctr"/>
            <a:r>
              <a:rPr lang="fr-FR" sz="3200" noProof="0" dirty="0">
                <a:solidFill>
                  <a:schemeClr val="tx2"/>
                </a:solidFill>
                <a:latin typeface="Calibri" panose="020F0502020204030204" pitchFamily="34" charset="0"/>
                <a:ea typeface="Calibri" panose="020F0502020204030204" pitchFamily="34" charset="0"/>
                <a:cs typeface="Calibri" panose="020F0502020204030204" pitchFamily="34" charset="0"/>
              </a:rPr>
              <a:t>Erreur moyenne de saturation</a:t>
            </a:r>
            <a:endParaRPr lang="fr-FR" sz="3200" kern="1200" noProof="0"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86243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pattFill prst="dkHorz">
          <a:fgClr>
            <a:schemeClr val="accent2">
              <a:lumMod val="20000"/>
              <a:lumOff val="80000"/>
            </a:schemeClr>
          </a:fgClr>
          <a:bgClr>
            <a:schemeClr val="bg1"/>
          </a:bgClr>
        </a:patt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16" name="图片 15" descr="表格&#10;&#10;AI 生成的内容可能不正确。">
            <a:extLst>
              <a:ext uri="{FF2B5EF4-FFF2-40B4-BE49-F238E27FC236}">
                <a16:creationId xmlns:a16="http://schemas.microsoft.com/office/drawing/2014/main" id="{2E8AC4D1-05CB-5D1A-F30C-421C6F3E5E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6072" y="1560029"/>
            <a:ext cx="4239550" cy="4659796"/>
          </a:xfrm>
          <a:prstGeom prst="rect">
            <a:avLst/>
          </a:prstGeom>
        </p:spPr>
      </p:pic>
      <p:sp>
        <p:nvSpPr>
          <p:cNvPr id="31" name="Rectangle 30">
            <a:extLst>
              <a:ext uri="{FF2B5EF4-FFF2-40B4-BE49-F238E27FC236}">
                <a16:creationId xmlns:a16="http://schemas.microsoft.com/office/drawing/2014/main" id="{1561AEE4-4E38-4BAC-976D-E0DE523FC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33" name="Group 32">
            <a:extLst>
              <a:ext uri="{FF2B5EF4-FFF2-40B4-BE49-F238E27FC236}">
                <a16:creationId xmlns:a16="http://schemas.microsoft.com/office/drawing/2014/main" id="{F0BC676B-D19A-44DB-910A-0C0E6D433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431" y="3985"/>
            <a:ext cx="9772765" cy="6858000"/>
            <a:chOff x="1303402" y="3985"/>
            <a:chExt cx="9772765" cy="6858000"/>
          </a:xfrm>
        </p:grpSpPr>
        <p:sp>
          <p:nvSpPr>
            <p:cNvPr id="34" name="Freeform: Shape 33">
              <a:extLst>
                <a:ext uri="{FF2B5EF4-FFF2-40B4-BE49-F238E27FC236}">
                  <a16:creationId xmlns:a16="http://schemas.microsoft.com/office/drawing/2014/main" id="{999AA485-A13F-4455-814E-C116AD7E0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35" name="Freeform: Shape 34">
              <a:extLst>
                <a:ext uri="{FF2B5EF4-FFF2-40B4-BE49-F238E27FC236}">
                  <a16:creationId xmlns:a16="http://schemas.microsoft.com/office/drawing/2014/main" id="{9C90D55F-0AFB-45E5-8815-A4701774C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36" name="Freeform: Shape 35">
              <a:extLst>
                <a:ext uri="{FF2B5EF4-FFF2-40B4-BE49-F238E27FC236}">
                  <a16:creationId xmlns:a16="http://schemas.microsoft.com/office/drawing/2014/main" id="{D476B6C1-4A41-48E6-8540-FC48FCD76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37" name="Freeform: Shape 36">
              <a:extLst>
                <a:ext uri="{FF2B5EF4-FFF2-40B4-BE49-F238E27FC236}">
                  <a16:creationId xmlns:a16="http://schemas.microsoft.com/office/drawing/2014/main" id="{3347F445-D2CA-4FEB-AB8E-7A47AB57C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38" name="Freeform: Shape 37">
              <a:extLst>
                <a:ext uri="{FF2B5EF4-FFF2-40B4-BE49-F238E27FC236}">
                  <a16:creationId xmlns:a16="http://schemas.microsoft.com/office/drawing/2014/main" id="{12F1B3D8-301E-4A54-9284-EB14E9056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solidFill>
                  <a:schemeClr val="lt1"/>
                </a:solidFill>
              </a:endParaRPr>
            </a:p>
          </p:txBody>
        </p:sp>
        <p:sp>
          <p:nvSpPr>
            <p:cNvPr id="39" name="Freeform: Shape 38">
              <a:extLst>
                <a:ext uri="{FF2B5EF4-FFF2-40B4-BE49-F238E27FC236}">
                  <a16:creationId xmlns:a16="http://schemas.microsoft.com/office/drawing/2014/main" id="{CE4B9C67-860A-4569-AC84-3ADE433D1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40" name="Freeform: Shape 39">
              <a:extLst>
                <a:ext uri="{FF2B5EF4-FFF2-40B4-BE49-F238E27FC236}">
                  <a16:creationId xmlns:a16="http://schemas.microsoft.com/office/drawing/2014/main" id="{1175B763-A6E6-4AD1-9138-9B1164A7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grpSp>
      <p:sp>
        <p:nvSpPr>
          <p:cNvPr id="4" name="页脚占位符 3">
            <a:extLst>
              <a:ext uri="{FF2B5EF4-FFF2-40B4-BE49-F238E27FC236}">
                <a16:creationId xmlns:a16="http://schemas.microsoft.com/office/drawing/2014/main" id="{4D8BD1E5-FC0C-F182-495C-788C897B419F}"/>
              </a:ext>
            </a:extLst>
          </p:cNvPr>
          <p:cNvSpPr>
            <a:spLocks noGrp="1"/>
          </p:cNvSpPr>
          <p:nvPr>
            <p:ph type="ftr" sz="quarter" idx="11"/>
          </p:nvPr>
        </p:nvSpPr>
        <p:spPr>
          <a:xfrm>
            <a:off x="4038600" y="6356350"/>
            <a:ext cx="4114800" cy="365125"/>
          </a:xfrm>
        </p:spPr>
        <p:txBody>
          <a:bodyPr>
            <a:normAutofit/>
          </a:bodyPr>
          <a:lstStyle/>
          <a:p>
            <a:pPr>
              <a:spcAft>
                <a:spcPts val="600"/>
              </a:spcAft>
            </a:pPr>
            <a:r>
              <a:rPr lang="fr-FR" noProof="0" dirty="0" err="1"/>
              <a:t>Qinyan</a:t>
            </a:r>
            <a:r>
              <a:rPr lang="fr-FR" noProof="0" dirty="0"/>
              <a:t> YANG      Stage M2     Soutenance de stage — 2025</a:t>
            </a:r>
          </a:p>
        </p:txBody>
      </p:sp>
      <p:sp>
        <p:nvSpPr>
          <p:cNvPr id="5" name="灯片编号占位符 4">
            <a:extLst>
              <a:ext uri="{FF2B5EF4-FFF2-40B4-BE49-F238E27FC236}">
                <a16:creationId xmlns:a16="http://schemas.microsoft.com/office/drawing/2014/main" id="{98D0F2AB-837D-55AF-F7A2-B1A1B2FDC0F0}"/>
              </a:ext>
            </a:extLst>
          </p:cNvPr>
          <p:cNvSpPr>
            <a:spLocks noGrp="1"/>
          </p:cNvSpPr>
          <p:nvPr>
            <p:ph type="sldNum" sz="quarter" idx="12"/>
          </p:nvPr>
        </p:nvSpPr>
        <p:spPr>
          <a:xfrm>
            <a:off x="8610600" y="6356350"/>
            <a:ext cx="2743200" cy="365125"/>
          </a:xfrm>
        </p:spPr>
        <p:txBody>
          <a:bodyPr>
            <a:normAutofit/>
          </a:bodyPr>
          <a:lstStyle/>
          <a:p>
            <a:pPr>
              <a:spcAft>
                <a:spcPts val="600"/>
              </a:spcAft>
            </a:pPr>
            <a:fld id="{02625CE3-65DB-4542-8AE7-F35D1171AFB5}" type="slidenum">
              <a:rPr lang="fr-FR" noProof="0" smtClean="0"/>
              <a:pPr>
                <a:spcAft>
                  <a:spcPts val="600"/>
                </a:spcAft>
              </a:pPr>
              <a:t>18</a:t>
            </a:fld>
            <a:endParaRPr lang="fr-FR" noProof="0" dirty="0"/>
          </a:p>
        </p:txBody>
      </p:sp>
      <p:sp>
        <p:nvSpPr>
          <p:cNvPr id="7" name="标题 40">
            <a:extLst>
              <a:ext uri="{FF2B5EF4-FFF2-40B4-BE49-F238E27FC236}">
                <a16:creationId xmlns:a16="http://schemas.microsoft.com/office/drawing/2014/main" id="{292D79DA-092D-A9DE-2293-5B149C799FDA}"/>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Analyse des performances (BR vs R)</a:t>
            </a:r>
          </a:p>
        </p:txBody>
      </p:sp>
    </p:spTree>
    <p:extLst>
      <p:ext uri="{BB962C8B-B14F-4D97-AF65-F5344CB8AC3E}">
        <p14:creationId xmlns:p14="http://schemas.microsoft.com/office/powerpoint/2010/main" val="3000083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pattFill prst="pct25">
          <a:fgClr>
            <a:schemeClr val="accent3">
              <a:lumMod val="20000"/>
              <a:lumOff val="80000"/>
            </a:schemeClr>
          </a:fgClr>
          <a:bgClr>
            <a:schemeClr val="bg1"/>
          </a:bgClr>
        </a:patt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6" name="图片 5">
            <a:extLst>
              <a:ext uri="{FF2B5EF4-FFF2-40B4-BE49-F238E27FC236}">
                <a16:creationId xmlns:a16="http://schemas.microsoft.com/office/drawing/2014/main" id="{72B7E0D0-82A4-9939-C385-1E13BE41F09F}"/>
              </a:ext>
            </a:extLst>
          </p:cNvPr>
          <p:cNvPicPr>
            <a:picLocks noChangeAspect="1"/>
          </p:cNvPicPr>
          <p:nvPr/>
        </p:nvPicPr>
        <p:blipFill>
          <a:blip r:embed="rId3"/>
          <a:stretch>
            <a:fillRect/>
          </a:stretch>
        </p:blipFill>
        <p:spPr>
          <a:xfrm>
            <a:off x="2384240" y="2963239"/>
            <a:ext cx="7423214" cy="1434379"/>
          </a:xfrm>
          <a:prstGeom prst="rect">
            <a:avLst/>
          </a:prstGeom>
        </p:spPr>
      </p:pic>
      <p:sp>
        <p:nvSpPr>
          <p:cNvPr id="12" name="Rectangle 11">
            <a:extLst>
              <a:ext uri="{FF2B5EF4-FFF2-40B4-BE49-F238E27FC236}">
                <a16:creationId xmlns:a16="http://schemas.microsoft.com/office/drawing/2014/main" id="{1561AEE4-4E38-4BAC-976D-E0DE523FC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14" name="Group 13">
            <a:extLst>
              <a:ext uri="{FF2B5EF4-FFF2-40B4-BE49-F238E27FC236}">
                <a16:creationId xmlns:a16="http://schemas.microsoft.com/office/drawing/2014/main" id="{F0BC676B-D19A-44DB-910A-0C0E6D433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431" y="3985"/>
            <a:ext cx="9772765" cy="6858000"/>
            <a:chOff x="1303402" y="3985"/>
            <a:chExt cx="9772765" cy="6858000"/>
          </a:xfrm>
        </p:grpSpPr>
        <p:sp>
          <p:nvSpPr>
            <p:cNvPr id="15" name="Freeform: Shape 14">
              <a:extLst>
                <a:ext uri="{FF2B5EF4-FFF2-40B4-BE49-F238E27FC236}">
                  <a16:creationId xmlns:a16="http://schemas.microsoft.com/office/drawing/2014/main" id="{999AA485-A13F-4455-814E-C116AD7E0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6" name="Freeform: Shape 15">
              <a:extLst>
                <a:ext uri="{FF2B5EF4-FFF2-40B4-BE49-F238E27FC236}">
                  <a16:creationId xmlns:a16="http://schemas.microsoft.com/office/drawing/2014/main" id="{9C90D55F-0AFB-45E5-8815-A4701774C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7" name="Freeform: Shape 16">
              <a:extLst>
                <a:ext uri="{FF2B5EF4-FFF2-40B4-BE49-F238E27FC236}">
                  <a16:creationId xmlns:a16="http://schemas.microsoft.com/office/drawing/2014/main" id="{D476B6C1-4A41-48E6-8540-FC48FCD76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8" name="Freeform: Shape 17">
              <a:extLst>
                <a:ext uri="{FF2B5EF4-FFF2-40B4-BE49-F238E27FC236}">
                  <a16:creationId xmlns:a16="http://schemas.microsoft.com/office/drawing/2014/main" id="{3347F445-D2CA-4FEB-AB8E-7A47AB57C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19" name="Freeform: Shape 18">
              <a:extLst>
                <a:ext uri="{FF2B5EF4-FFF2-40B4-BE49-F238E27FC236}">
                  <a16:creationId xmlns:a16="http://schemas.microsoft.com/office/drawing/2014/main" id="{12F1B3D8-301E-4A54-9284-EB14E9056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solidFill>
                  <a:schemeClr val="lt1"/>
                </a:solidFill>
              </a:endParaRPr>
            </a:p>
          </p:txBody>
        </p:sp>
        <p:sp>
          <p:nvSpPr>
            <p:cNvPr id="20" name="Freeform: Shape 19">
              <a:extLst>
                <a:ext uri="{FF2B5EF4-FFF2-40B4-BE49-F238E27FC236}">
                  <a16:creationId xmlns:a16="http://schemas.microsoft.com/office/drawing/2014/main" id="{CE4B9C67-860A-4569-AC84-3ADE433D1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21" name="Freeform: Shape 20">
              <a:extLst>
                <a:ext uri="{FF2B5EF4-FFF2-40B4-BE49-F238E27FC236}">
                  <a16:creationId xmlns:a16="http://schemas.microsoft.com/office/drawing/2014/main" id="{1175B763-A6E6-4AD1-9138-9B1164A7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grpSp>
      <p:sp>
        <p:nvSpPr>
          <p:cNvPr id="4" name="页脚占位符 3">
            <a:extLst>
              <a:ext uri="{FF2B5EF4-FFF2-40B4-BE49-F238E27FC236}">
                <a16:creationId xmlns:a16="http://schemas.microsoft.com/office/drawing/2014/main" id="{463E515F-CF2D-5025-8BB6-96A9AD971C9B}"/>
              </a:ext>
            </a:extLst>
          </p:cNvPr>
          <p:cNvSpPr>
            <a:spLocks noGrp="1"/>
          </p:cNvSpPr>
          <p:nvPr>
            <p:ph type="ftr" sz="quarter" idx="11"/>
          </p:nvPr>
        </p:nvSpPr>
        <p:spPr>
          <a:xfrm>
            <a:off x="4038600" y="6356350"/>
            <a:ext cx="4114800" cy="365125"/>
          </a:xfrm>
        </p:spPr>
        <p:txBody>
          <a:bodyPr>
            <a:normAutofit/>
          </a:bodyPr>
          <a:lstStyle/>
          <a:p>
            <a:pPr>
              <a:spcAft>
                <a:spcPts val="600"/>
              </a:spcAft>
            </a:pPr>
            <a:r>
              <a:rPr lang="fr-FR" noProof="0" dirty="0" err="1"/>
              <a:t>Qinyan</a:t>
            </a:r>
            <a:r>
              <a:rPr lang="fr-FR" noProof="0" dirty="0"/>
              <a:t> YANG      Stage M2     Soutenance de stage — 2025</a:t>
            </a:r>
          </a:p>
        </p:txBody>
      </p:sp>
      <p:sp>
        <p:nvSpPr>
          <p:cNvPr id="5" name="灯片编号占位符 4">
            <a:extLst>
              <a:ext uri="{FF2B5EF4-FFF2-40B4-BE49-F238E27FC236}">
                <a16:creationId xmlns:a16="http://schemas.microsoft.com/office/drawing/2014/main" id="{B6E89F40-61C3-5046-DD25-10D467CE89E1}"/>
              </a:ext>
            </a:extLst>
          </p:cNvPr>
          <p:cNvSpPr>
            <a:spLocks noGrp="1"/>
          </p:cNvSpPr>
          <p:nvPr>
            <p:ph type="sldNum" sz="quarter" idx="12"/>
          </p:nvPr>
        </p:nvSpPr>
        <p:spPr>
          <a:xfrm>
            <a:off x="8610600" y="6356350"/>
            <a:ext cx="2743200" cy="365125"/>
          </a:xfrm>
        </p:spPr>
        <p:txBody>
          <a:bodyPr>
            <a:normAutofit/>
          </a:bodyPr>
          <a:lstStyle/>
          <a:p>
            <a:pPr>
              <a:spcAft>
                <a:spcPts val="600"/>
              </a:spcAft>
            </a:pPr>
            <a:fld id="{02625CE3-65DB-4542-8AE7-F35D1171AFB5}" type="slidenum">
              <a:rPr lang="fr-FR" noProof="0" smtClean="0"/>
              <a:pPr>
                <a:spcAft>
                  <a:spcPts val="600"/>
                </a:spcAft>
              </a:pPr>
              <a:t>19</a:t>
            </a:fld>
            <a:endParaRPr lang="fr-FR" noProof="0" dirty="0"/>
          </a:p>
        </p:txBody>
      </p:sp>
      <p:sp>
        <p:nvSpPr>
          <p:cNvPr id="2" name="标题 40">
            <a:extLst>
              <a:ext uri="{FF2B5EF4-FFF2-40B4-BE49-F238E27FC236}">
                <a16:creationId xmlns:a16="http://schemas.microsoft.com/office/drawing/2014/main" id="{66726DD8-F9A7-1695-8B54-6127679CFBE8}"/>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Analyse des performances (BR vs R)</a:t>
            </a:r>
          </a:p>
        </p:txBody>
      </p:sp>
      <p:sp>
        <p:nvSpPr>
          <p:cNvPr id="7" name="标题 1">
            <a:extLst>
              <a:ext uri="{FF2B5EF4-FFF2-40B4-BE49-F238E27FC236}">
                <a16:creationId xmlns:a16="http://schemas.microsoft.com/office/drawing/2014/main" id="{9FE4BA8D-191D-38C6-8185-B8D7280AB011}"/>
              </a:ext>
            </a:extLst>
          </p:cNvPr>
          <p:cNvSpPr>
            <a:spLocks noGrp="1"/>
          </p:cNvSpPr>
          <p:nvPr>
            <p:ph type="title"/>
          </p:nvPr>
        </p:nvSpPr>
        <p:spPr>
          <a:xfrm>
            <a:off x="791167" y="1690688"/>
            <a:ext cx="4161224" cy="664178"/>
          </a:xfrm>
        </p:spPr>
        <p:txBody>
          <a:bodyPr vert="horz" lIns="91440" tIns="45720" rIns="91440" bIns="45720" rtlCol="0" anchor="b">
            <a:normAutofit/>
          </a:bodyPr>
          <a:lstStyle/>
          <a:p>
            <a:pPr algn="ctr"/>
            <a:r>
              <a:rPr lang="fr-FR" sz="3200" noProof="0" dirty="0">
                <a:solidFill>
                  <a:schemeClr val="tx2"/>
                </a:solidFill>
                <a:latin typeface="Calibri" panose="020F0502020204030204" pitchFamily="34" charset="0"/>
                <a:ea typeface="Calibri" panose="020F0502020204030204" pitchFamily="34" charset="0"/>
                <a:cs typeface="Calibri" panose="020F0502020204030204" pitchFamily="34" charset="0"/>
              </a:rPr>
              <a:t>Erreur de saturation</a:t>
            </a:r>
            <a:endParaRPr lang="fr-FR" sz="3200" kern="1200" noProof="0"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86048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pattFill prst="lgCheck">
          <a:fgClr>
            <a:schemeClr val="accent6">
              <a:lumMod val="20000"/>
              <a:lumOff val="80000"/>
            </a:schemeClr>
          </a:fgClr>
          <a:bgClr>
            <a:schemeClr val="accent5">
              <a:lumMod val="20000"/>
              <a:lumOff val="80000"/>
            </a:schemeClr>
          </a:bgClr>
        </a:patt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2" name="Rectangle 11">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14" name="Group 13">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5" name="Freeform: Shape 14">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6" name="Freeform: Shape 15">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7" name="Freeform: Shape 16">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8" name="Freeform: Shape 17">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
        <p:nvSpPr>
          <p:cNvPr id="2" name="标题 1">
            <a:extLst>
              <a:ext uri="{FF2B5EF4-FFF2-40B4-BE49-F238E27FC236}">
                <a16:creationId xmlns:a16="http://schemas.microsoft.com/office/drawing/2014/main" id="{38CED294-2E30-91C6-417F-9FD5F19ECDB8}"/>
              </a:ext>
            </a:extLst>
          </p:cNvPr>
          <p:cNvSpPr>
            <a:spLocks noGrp="1"/>
          </p:cNvSpPr>
          <p:nvPr>
            <p:ph type="title"/>
          </p:nvPr>
        </p:nvSpPr>
        <p:spPr>
          <a:xfrm>
            <a:off x="3027924" y="991261"/>
            <a:ext cx="5754696" cy="1837349"/>
          </a:xfrm>
        </p:spPr>
        <p:txBody>
          <a:bodyPr>
            <a:normAutofit/>
          </a:bodyPr>
          <a:lstStyle/>
          <a:p>
            <a:pPr algn="ctr"/>
            <a:r>
              <a:rPr lang="fr-FR" sz="3600" b="1" noProof="0" dirty="0">
                <a:solidFill>
                  <a:schemeClr val="tx2"/>
                </a:solidFill>
                <a:latin typeface="Calibri" panose="020F0502020204030204" pitchFamily="34" charset="0"/>
                <a:ea typeface="Calibri" panose="020F0502020204030204" pitchFamily="34" charset="0"/>
                <a:cs typeface="Calibri" panose="020F0502020204030204" pitchFamily="34" charset="0"/>
              </a:rPr>
              <a:t>Conclusion</a:t>
            </a:r>
            <a:endParaRPr lang="fr-FR" sz="3600" b="1" noProof="0" dirty="0">
              <a:solidFill>
                <a:schemeClr val="tx2"/>
              </a:solidFill>
              <a:latin typeface="Calibri" panose="020F0502020204030204" pitchFamily="34" charset="0"/>
              <a:cs typeface="Calibri" panose="020F0502020204030204" pitchFamily="34" charset="0"/>
            </a:endParaRPr>
          </a:p>
        </p:txBody>
      </p:sp>
      <p:sp>
        <p:nvSpPr>
          <p:cNvPr id="4" name="页脚占位符 3">
            <a:extLst>
              <a:ext uri="{FF2B5EF4-FFF2-40B4-BE49-F238E27FC236}">
                <a16:creationId xmlns:a16="http://schemas.microsoft.com/office/drawing/2014/main" id="{B727453B-13DB-C978-79AC-7DF714DE66C8}"/>
              </a:ext>
            </a:extLst>
          </p:cNvPr>
          <p:cNvSpPr>
            <a:spLocks noGrp="1"/>
          </p:cNvSpPr>
          <p:nvPr>
            <p:ph type="ftr" sz="quarter" idx="11"/>
          </p:nvPr>
        </p:nvSpPr>
        <p:spPr>
          <a:xfrm>
            <a:off x="4038600" y="6356350"/>
            <a:ext cx="4114800" cy="365125"/>
          </a:xfrm>
        </p:spPr>
        <p:txBody>
          <a:bodyPr>
            <a:normAutofit/>
          </a:bodyPr>
          <a:lstStyle/>
          <a:p>
            <a:pPr>
              <a:spcAft>
                <a:spcPts val="600"/>
              </a:spcAft>
            </a:pPr>
            <a:r>
              <a:rPr lang="fr-FR" noProof="0" dirty="0" err="1"/>
              <a:t>Qinyan</a:t>
            </a:r>
            <a:r>
              <a:rPr lang="fr-FR" noProof="0" dirty="0"/>
              <a:t> YANG      Stage M2     Soutenance de stage — 2025</a:t>
            </a:r>
          </a:p>
        </p:txBody>
      </p:sp>
      <p:grpSp>
        <p:nvGrpSpPr>
          <p:cNvPr id="20" name="Group 19">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21" name="Freeform: Shape 20">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2" name="Freeform: Shape 21">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3" name="Freeform: Shape 22">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800" noProof="0" dirty="0"/>
            </a:p>
          </p:txBody>
        </p:sp>
        <p:sp>
          <p:nvSpPr>
            <p:cNvPr id="24" name="Freeform: Shape 23">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
        <p:nvSpPr>
          <p:cNvPr id="5" name="灯片编号占位符 4">
            <a:extLst>
              <a:ext uri="{FF2B5EF4-FFF2-40B4-BE49-F238E27FC236}">
                <a16:creationId xmlns:a16="http://schemas.microsoft.com/office/drawing/2014/main" id="{ADA8A67C-9666-5F36-7DA6-5A4A5DF44B83}"/>
              </a:ext>
            </a:extLst>
          </p:cNvPr>
          <p:cNvSpPr>
            <a:spLocks noGrp="1"/>
          </p:cNvSpPr>
          <p:nvPr>
            <p:ph type="sldNum" sz="quarter" idx="12"/>
          </p:nvPr>
        </p:nvSpPr>
        <p:spPr>
          <a:xfrm>
            <a:off x="8610600" y="6356350"/>
            <a:ext cx="2743200" cy="365125"/>
          </a:xfrm>
        </p:spPr>
        <p:txBody>
          <a:bodyPr>
            <a:normAutofit/>
          </a:bodyPr>
          <a:lstStyle/>
          <a:p>
            <a:pPr>
              <a:spcAft>
                <a:spcPts val="600"/>
              </a:spcAft>
            </a:pPr>
            <a:fld id="{02625CE3-65DB-4542-8AE7-F35D1171AFB5}" type="slidenum">
              <a:rPr lang="fr-FR" noProof="0" smtClean="0"/>
              <a:pPr>
                <a:spcAft>
                  <a:spcPts val="600"/>
                </a:spcAft>
              </a:pPr>
              <a:t>20</a:t>
            </a:fld>
            <a:endParaRPr lang="fr-FR" noProof="0" dirty="0"/>
          </a:p>
        </p:txBody>
      </p:sp>
    </p:spTree>
    <p:extLst>
      <p:ext uri="{BB962C8B-B14F-4D97-AF65-F5344CB8AC3E}">
        <p14:creationId xmlns:p14="http://schemas.microsoft.com/office/powerpoint/2010/main" val="1696581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7" name="Rectangle 46">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noProof="0" dirty="0"/>
          </a:p>
        </p:txBody>
      </p:sp>
      <p:sp>
        <p:nvSpPr>
          <p:cNvPr id="49" name="Freeform: Shape 48">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51" name="Group 50">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52" name="Freeform: Shape 51">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53" name="Freeform: Shape 52">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54" name="Freeform: Shape 53">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55" name="Freeform: Shape 54">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56" name="Freeform: Shape 55">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57" name="Freeform: Shape 56">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p>
          </p:txBody>
        </p:sp>
        <p:sp>
          <p:nvSpPr>
            <p:cNvPr id="58" name="Freeform: Shape 57">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noProof="0" dirty="0">
                <a:solidFill>
                  <a:schemeClr val="lt1"/>
                </a:solidFill>
              </a:endParaRPr>
            </a:p>
          </p:txBody>
        </p:sp>
      </p:grpSp>
      <p:sp>
        <p:nvSpPr>
          <p:cNvPr id="2" name="标题 1">
            <a:extLst>
              <a:ext uri="{FF2B5EF4-FFF2-40B4-BE49-F238E27FC236}">
                <a16:creationId xmlns:a16="http://schemas.microsoft.com/office/drawing/2014/main" id="{1FE45C63-E714-89EC-D1E4-8EB8FBAADC10}"/>
              </a:ext>
            </a:extLst>
          </p:cNvPr>
          <p:cNvSpPr>
            <a:spLocks noGrp="1"/>
          </p:cNvSpPr>
          <p:nvPr>
            <p:ph type="title"/>
          </p:nvPr>
        </p:nvSpPr>
        <p:spPr>
          <a:xfrm>
            <a:off x="3296106" y="2215434"/>
            <a:ext cx="5792271" cy="1929467"/>
          </a:xfrm>
        </p:spPr>
        <p:txBody>
          <a:bodyPr vert="horz" lIns="91440" tIns="45720" rIns="91440" bIns="45720" rtlCol="0" anchor="b">
            <a:normAutofit/>
          </a:bodyPr>
          <a:lstStyle/>
          <a:p>
            <a:pPr algn="ctr"/>
            <a:r>
              <a:rPr lang="fr-FR" sz="11500" b="1" kern="1200" noProof="0" dirty="0">
                <a:solidFill>
                  <a:schemeClr val="tx2"/>
                </a:solidFill>
                <a:latin typeface="Calibri" panose="020F0502020204030204" pitchFamily="34" charset="0"/>
                <a:ea typeface="Calibri" panose="020F0502020204030204" pitchFamily="34" charset="0"/>
                <a:cs typeface="Calibri" panose="020F0502020204030204" pitchFamily="34" charset="0"/>
              </a:rPr>
              <a:t>Merci</a:t>
            </a:r>
          </a:p>
        </p:txBody>
      </p:sp>
      <p:grpSp>
        <p:nvGrpSpPr>
          <p:cNvPr id="60" name="Group 59">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61" name="Freeform: Shape 60">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2" name="Freeform: Shape 61">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3" name="Freeform: Shape 62">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800" noProof="0" dirty="0"/>
            </a:p>
          </p:txBody>
        </p:sp>
        <p:sp>
          <p:nvSpPr>
            <p:cNvPr id="64" name="Freeform: Shape 63">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
        <p:nvSpPr>
          <p:cNvPr id="5" name="灯片编号占位符 4">
            <a:extLst>
              <a:ext uri="{FF2B5EF4-FFF2-40B4-BE49-F238E27FC236}">
                <a16:creationId xmlns:a16="http://schemas.microsoft.com/office/drawing/2014/main" id="{289908F1-3BB4-2003-0DBF-5AF9950C923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02625CE3-65DB-4542-8AE7-F35D1171AFB5}" type="slidenum">
              <a:rPr lang="fr-FR" noProof="0" smtClean="0">
                <a:solidFill>
                  <a:schemeClr val="tx1">
                    <a:tint val="75000"/>
                  </a:schemeClr>
                </a:solidFill>
              </a:rPr>
              <a:pPr>
                <a:spcAft>
                  <a:spcPts val="600"/>
                </a:spcAft>
              </a:pPr>
              <a:t>21</a:t>
            </a:fld>
            <a:endParaRPr lang="fr-FR" noProof="0" dirty="0">
              <a:solidFill>
                <a:schemeClr val="tx1">
                  <a:tint val="75000"/>
                </a:schemeClr>
              </a:solidFill>
            </a:endParaRPr>
          </a:p>
        </p:txBody>
      </p:sp>
      <p:grpSp>
        <p:nvGrpSpPr>
          <p:cNvPr id="66" name="Group 65">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67" name="Freeform: Shape 66">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8" name="Freeform: Shape 67">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9" name="Freeform: Shape 68">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800" noProof="0" dirty="0"/>
            </a:p>
          </p:txBody>
        </p:sp>
        <p:sp>
          <p:nvSpPr>
            <p:cNvPr id="70" name="Freeform: Shape 69">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
        <p:nvSpPr>
          <p:cNvPr id="3" name="页脚占位符 3">
            <a:extLst>
              <a:ext uri="{FF2B5EF4-FFF2-40B4-BE49-F238E27FC236}">
                <a16:creationId xmlns:a16="http://schemas.microsoft.com/office/drawing/2014/main" id="{3A770C5D-566D-A053-184F-1D8B80869FE3}"/>
              </a:ext>
            </a:extLst>
          </p:cNvPr>
          <p:cNvSpPr>
            <a:spLocks noGrp="1"/>
          </p:cNvSpPr>
          <p:nvPr>
            <p:ph type="ftr" sz="quarter" idx="11"/>
          </p:nvPr>
        </p:nvSpPr>
        <p:spPr>
          <a:xfrm>
            <a:off x="4038600" y="6356350"/>
            <a:ext cx="4114800" cy="365125"/>
          </a:xfrm>
        </p:spPr>
        <p:txBody>
          <a:bodyPr>
            <a:normAutofit/>
          </a:bodyPr>
          <a:lstStyle/>
          <a:p>
            <a:pPr>
              <a:spcAft>
                <a:spcPts val="600"/>
              </a:spcAft>
            </a:pPr>
            <a:r>
              <a:rPr lang="fr-FR" noProof="0" dirty="0" err="1"/>
              <a:t>Qinyan</a:t>
            </a:r>
            <a:r>
              <a:rPr lang="fr-FR" noProof="0" dirty="0"/>
              <a:t> YANG      Stage M2     Soutenance de stage — 2025</a:t>
            </a:r>
          </a:p>
        </p:txBody>
      </p:sp>
    </p:spTree>
    <p:extLst>
      <p:ext uri="{BB962C8B-B14F-4D97-AF65-F5344CB8AC3E}">
        <p14:creationId xmlns:p14="http://schemas.microsoft.com/office/powerpoint/2010/main" val="239401329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DC50441-2874-4E18-8AD0-94EA6E22ACF7}">
  <we:reference id="wa200005566" version="3.0.0.3" store="zh-CN"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3422</TotalTime>
  <Words>2279</Words>
  <Application>Microsoft Office PowerPoint</Application>
  <PresentationFormat>宽屏</PresentationFormat>
  <Paragraphs>247</Paragraphs>
  <Slides>21</Slides>
  <Notes>21</Notes>
  <HiddenSlides>0</HiddenSlides>
  <MMClips>1</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21</vt:i4>
      </vt:variant>
    </vt:vector>
  </HeadingPairs>
  <TitlesOfParts>
    <vt:vector size="28" baseType="lpstr">
      <vt:lpstr>等线</vt:lpstr>
      <vt:lpstr>等线 Light</vt:lpstr>
      <vt:lpstr>Arial</vt:lpstr>
      <vt:lpstr>Calibri</vt:lpstr>
      <vt:lpstr>Cambria Math</vt:lpstr>
      <vt:lpstr>Wingdings</vt:lpstr>
      <vt:lpstr>Office 主题​​</vt:lpstr>
      <vt:lpstr>PowerPoint 演示文稿</vt:lpstr>
      <vt:lpstr>Plan</vt:lpstr>
      <vt:lpstr>Contexte et motivation</vt:lpstr>
      <vt:lpstr>Objectifs du stage</vt:lpstr>
      <vt:lpstr>PowerPoint 演示文稿</vt:lpstr>
      <vt:lpstr>PowerPoint 演示文稿</vt:lpstr>
      <vt:lpstr>PowerPoint 演示文稿</vt:lpstr>
      <vt:lpstr>PowerPoint 演示文稿</vt:lpstr>
      <vt:lpstr>Validation du modèle: Cas test 1 (BR vs R)</vt:lpstr>
      <vt:lpstr>Validation du modèle: Cas test 1 (BR vs R)</vt:lpstr>
      <vt:lpstr>Validation du modèle: Cas test 1 (BR vs R)</vt:lpstr>
      <vt:lpstr>Validation du modèle: Cas test 1 (BR vs R)</vt:lpstr>
      <vt:lpstr>Validation du modèle: Cas test 1 (BR vs R)</vt:lpstr>
      <vt:lpstr>Recharge réaliste</vt:lpstr>
      <vt:lpstr>Simulation du Cas test 2</vt:lpstr>
      <vt:lpstr>Débit sortant</vt:lpstr>
      <vt:lpstr>Erreur moyenne de saturation</vt:lpstr>
      <vt:lpstr>PowerPoint 演示文稿</vt:lpstr>
      <vt:lpstr>Erreur de saturation</vt:lpstr>
      <vt:lpstr>Conclusion</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钦焱 杨</dc:creator>
  <cp:lastModifiedBy>钦焱 杨</cp:lastModifiedBy>
  <cp:revision>45</cp:revision>
  <dcterms:created xsi:type="dcterms:W3CDTF">2025-06-16T07:25:45Z</dcterms:created>
  <dcterms:modified xsi:type="dcterms:W3CDTF">2025-09-05T14:14:40Z</dcterms:modified>
</cp:coreProperties>
</file>